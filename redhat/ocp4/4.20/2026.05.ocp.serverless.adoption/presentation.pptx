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009"/>
    <p:restoredTop sz="96158"/>
  </p:normalViewPr>
  <p:slideViewPr>
    <p:cSldViewPr snapToGrid="0" snapToObjects="1">
      <p:cViewPr varScale="1">
        <p:scale>
          <a:sx n="150" d="100"/>
          <a:sy n="150" d="100"/>
        </p:scale>
        <p:origin x="1064" y="1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9115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151515"/>
                </a:solidFill>
                <a:latin typeface="Arial"/>
              </a:rPr>
              <a:t>OpenShift Serverless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560320"/>
            <a:ext cx="109115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2B2B2B"/>
                </a:solidFill>
                <a:latin typeface="Arial"/>
              </a:rPr>
              <a:t>统一多云 Serverless 平台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3246120"/>
            <a:ext cx="1828800" cy="635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3520440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6A6E73"/>
                </a:solidFill>
                <a:latin typeface="Arial"/>
              </a:rPr>
              <a:t>Cathay 技术方案  |  实测验证报告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206240"/>
            <a:ext cx="2926080" cy="411480"/>
          </a:xfrm>
          <a:prstGeom prst="roundRect">
            <a:avLst>
              <a:gd name="adj" fmla="val 5000"/>
            </a:avLst>
          </a:prstGeom>
          <a:solidFill>
            <a:srgbClr val="FFF0F0"/>
          </a:solidFill>
          <a:ln w="12700">
            <a:solidFill>
              <a:srgbClr val="E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200" b="1" i="0">
                <a:solidFill>
                  <a:srgbClr val="A60000"/>
                </a:solidFill>
                <a:latin typeface="Arial"/>
              </a:rPr>
              <a:t>ROSA HCP 4.20.21 实测验证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120640"/>
            <a:ext cx="109115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A6E73"/>
                </a:solidFill>
                <a:latin typeface="Arial"/>
              </a:rPr>
              <a:t>2026-05-13  |  Red Hat Adoption Team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89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51515"/>
                </a:solidFill>
                <a:latin typeface="Arial"/>
              </a:rPr>
              <a:t>议程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22960"/>
            <a:ext cx="1371600" cy="381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6492240"/>
            <a:ext cx="10911535" cy="12700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5430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A6E73"/>
                </a:solidFill>
                <a:latin typeface="Arial"/>
              </a:defRPr>
            </a:pPr>
            <a:r>
              <a:t>OpenShift Serverless — 统一多云 Serverless 平台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430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A6E73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79" y="1417320"/>
            <a:ext cx="53707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EE0000"/>
                </a:solidFill>
                <a:latin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3919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51515"/>
                </a:solidFill>
                <a:latin typeface="Arial"/>
              </a:rPr>
              <a:t>多云 Serverless 挑战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673352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A6E73"/>
                </a:solidFill>
                <a:latin typeface="Arial"/>
              </a:rPr>
              <a:t>N 个云 × M 个函数 = N×M 条 CI/CD 管道的运维困境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011680"/>
            <a:ext cx="10911535" cy="127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79" y="2194560"/>
            <a:ext cx="53707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EE0000"/>
                </a:solidFill>
                <a:latin typeface="Arial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1691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51515"/>
                </a:solidFill>
                <a:latin typeface="Arial"/>
              </a:rPr>
              <a:t>OpenShift Serverless 方案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450592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A6E73"/>
                </a:solidFill>
                <a:latin typeface="Arial"/>
              </a:rPr>
              <a:t>Knative Serving + Eventing + Functions 统一架构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788920"/>
            <a:ext cx="10911535" cy="127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79" y="2971800"/>
            <a:ext cx="53707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EE0000"/>
                </a:solidFill>
                <a:latin typeface="Arial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29464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51515"/>
                </a:solidFill>
                <a:latin typeface="Arial"/>
              </a:rPr>
              <a:t>实测对比验证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227832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A6E73"/>
                </a:solidFill>
                <a:latin typeface="Arial"/>
              </a:rPr>
              <a:t>Knative vs Lambda：性能、复杂度、成本全面对比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566160"/>
            <a:ext cx="10911535" cy="127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79" y="3749040"/>
            <a:ext cx="53707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EE0000"/>
                </a:solidFill>
                <a:latin typeface="Arial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37236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51515"/>
                </a:solidFill>
                <a:latin typeface="Arial"/>
              </a:rPr>
              <a:t>工作流编排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4005072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A6E73"/>
                </a:solidFill>
                <a:latin typeface="Arial"/>
              </a:rPr>
              <a:t>SonataFlow vs AWS Step Functions 实测对比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4343400"/>
            <a:ext cx="10911535" cy="127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79" y="4526280"/>
            <a:ext cx="53707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E0000"/>
                </a:solidFill>
                <a:latin typeface="Arial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45008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51515"/>
                </a:solidFill>
                <a:latin typeface="Arial"/>
              </a:rPr>
              <a:t>企业级能力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4782312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A6E73"/>
                </a:solidFill>
                <a:latin typeface="Arial"/>
              </a:rPr>
              <a:t>统一 CI/CD、多云可移植、事件驱动架构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5120640"/>
            <a:ext cx="10911535" cy="127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0079" y="5303520"/>
            <a:ext cx="53707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E0000"/>
                </a:solidFill>
                <a:latin typeface="Arial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80160" y="52781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51515"/>
                </a:solidFill>
                <a:latin typeface="Arial"/>
              </a:rPr>
              <a:t>实施路线图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80160" y="5559552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A6E73"/>
                </a:solidFill>
                <a:latin typeface="Arial"/>
              </a:rPr>
              <a:t>8 周分阶段落地计划与成功标准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89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1153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 i="0">
                <a:solidFill>
                  <a:srgbClr val="EE0000"/>
                </a:solidFill>
                <a:latin typeface="Arial"/>
              </a:rPr>
              <a:t>挑战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51515"/>
                </a:solidFill>
                <a:latin typeface="Arial"/>
              </a:rPr>
              <a:t>多云 Serverless 挑战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9115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6A6E73"/>
                </a:solidFill>
                <a:latin typeface="Arial"/>
              </a:rPr>
              <a:t>N 个云 × M 个函数 = N×M 条独立的 CI/CD 管道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914400"/>
            <a:ext cx="1371600" cy="381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6492240"/>
            <a:ext cx="10911535" cy="12700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65430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A6E73"/>
                </a:solidFill>
                <a:latin typeface="Arial"/>
              </a:defRPr>
            </a:pPr>
            <a:r>
              <a:t>OpenShift Serverless — 统一多云 Serverless 平台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430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A6E73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41732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buChar char="•"/>
            </a:pPr>
            <a:r>
              <a:rPr sz="1200" b="1" i="0">
                <a:solidFill>
                  <a:srgbClr val="2B2B2B"/>
                </a:solidFill>
                <a:latin typeface="Arial"/>
              </a:rPr>
              <a:t>  每个云厂商需要独立的 CI/CD 流程</a:t>
            </a:r>
          </a:p>
          <a:p>
            <a:pPr>
              <a:spcBef>
                <a:spcPts val="200"/>
              </a:spcBef>
              <a:spcAft>
                <a:spcPts val="400"/>
              </a:spcAft>
              <a:buChar char="•"/>
            </a:pPr>
            <a:r>
              <a:rPr sz="1200" b="0" i="0">
                <a:solidFill>
                  <a:srgbClr val="2B2B2B"/>
                </a:solidFill>
                <a:latin typeface="Arial"/>
              </a:rPr>
              <a:t>  AWS Lambda: SAM/CDK + IAM + API Gateway</a:t>
            </a:r>
          </a:p>
          <a:p>
            <a:pPr>
              <a:spcBef>
                <a:spcPts val="200"/>
              </a:spcBef>
              <a:spcAft>
                <a:spcPts val="400"/>
              </a:spcAft>
              <a:buChar char="•"/>
            </a:pPr>
            <a:r>
              <a:rPr sz="1200" b="0" i="0">
                <a:solidFill>
                  <a:srgbClr val="2B2B2B"/>
                </a:solidFill>
                <a:latin typeface="Arial"/>
              </a:rPr>
              <a:t>  Azure Functions: func CLI + bindings + triggers</a:t>
            </a:r>
          </a:p>
          <a:p>
            <a:pPr>
              <a:spcBef>
                <a:spcPts val="200"/>
              </a:spcBef>
              <a:spcAft>
                <a:spcPts val="400"/>
              </a:spcAft>
              <a:buChar char="•"/>
            </a:pPr>
            <a:r>
              <a:rPr sz="1200" b="0" i="0">
                <a:solidFill>
                  <a:srgbClr val="2B2B2B"/>
                </a:solidFill>
                <a:latin typeface="Arial"/>
              </a:rPr>
              <a:t>  阿里云/GCP: 各自的部署工具和 SDK</a:t>
            </a:r>
          </a:p>
          <a:p>
            <a:pPr>
              <a:spcBef>
                <a:spcPts val="200"/>
              </a:spcBef>
              <a:spcAft>
                <a:spcPts val="400"/>
              </a:spcAft>
              <a:buChar char="•"/>
            </a:pPr>
            <a:r>
              <a:rPr sz="1200" b="1" i="0">
                <a:solidFill>
                  <a:srgbClr val="2B2B2B"/>
                </a:solidFill>
                <a:latin typeface="Arial"/>
              </a:rPr>
              <a:t>  运维开销随云数量线性增长</a:t>
            </a:r>
          </a:p>
          <a:p>
            <a:pPr>
              <a:spcBef>
                <a:spcPts val="200"/>
              </a:spcBef>
              <a:spcAft>
                <a:spcPts val="400"/>
              </a:spcAft>
              <a:buChar char="•"/>
            </a:pPr>
            <a:r>
              <a:rPr sz="1200" b="0" i="0">
                <a:solidFill>
                  <a:srgbClr val="2B2B2B"/>
                </a:solidFill>
                <a:latin typeface="Arial"/>
              </a:rPr>
              <a:t>  N×M 条管道 = N×M 倍的维护成本</a:t>
            </a:r>
          </a:p>
          <a:p>
            <a:pPr>
              <a:spcBef>
                <a:spcPts val="200"/>
              </a:spcBef>
              <a:spcAft>
                <a:spcPts val="400"/>
              </a:spcAft>
              <a:buChar char="•"/>
            </a:pPr>
            <a:r>
              <a:rPr sz="1200" b="0" i="0">
                <a:solidFill>
                  <a:srgbClr val="2B2B2B"/>
                </a:solidFill>
                <a:latin typeface="Arial"/>
              </a:rPr>
              <a:t>  每次变更需要在多个平台重复操作</a:t>
            </a:r>
          </a:p>
          <a:p>
            <a:pPr>
              <a:spcBef>
                <a:spcPts val="200"/>
              </a:spcBef>
              <a:spcAft>
                <a:spcPts val="400"/>
              </a:spcAft>
              <a:buChar char="•"/>
            </a:pPr>
            <a:r>
              <a:rPr sz="1200" b="1" i="0">
                <a:solidFill>
                  <a:srgbClr val="2B2B2B"/>
                </a:solidFill>
                <a:latin typeface="Arial"/>
              </a:rPr>
              <a:t>  深度厂商锁定</a:t>
            </a:r>
          </a:p>
          <a:p>
            <a:pPr>
              <a:spcBef>
                <a:spcPts val="200"/>
              </a:spcBef>
              <a:spcAft>
                <a:spcPts val="400"/>
              </a:spcAft>
              <a:buChar char="•"/>
            </a:pPr>
            <a:r>
              <a:rPr sz="1200" b="0" i="0">
                <a:solidFill>
                  <a:srgbClr val="2B2B2B"/>
                </a:solidFill>
                <a:latin typeface="Arial"/>
              </a:rPr>
              <a:t>  专有 SDK、触发器模型、部署工具</a:t>
            </a:r>
          </a:p>
          <a:p>
            <a:pPr>
              <a:spcBef>
                <a:spcPts val="200"/>
              </a:spcBef>
              <a:spcAft>
                <a:spcPts val="400"/>
              </a:spcAft>
              <a:buChar char="•"/>
            </a:pPr>
            <a:r>
              <a:rPr sz="1200" b="0" i="0">
                <a:solidFill>
                  <a:srgbClr val="2B2B2B"/>
                </a:solidFill>
                <a:latin typeface="Arial"/>
              </a:rPr>
              <a:t>  迁移成本随时间持续增长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137160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A6E73"/>
                </a:solidFill>
                <a:latin typeface="Arial"/>
              </a:rPr>
              <a:t>函数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0" y="137160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A6E73"/>
                </a:solidFill>
                <a:latin typeface="Arial"/>
              </a:rPr>
              <a:t>函数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24160" y="137160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A6E73"/>
                </a:solidFill>
                <a:latin typeface="Arial"/>
              </a:rPr>
              <a:t>函数 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164592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E0000"/>
                </a:solidFill>
                <a:latin typeface="Arial"/>
              </a:rPr>
              <a:t>AWS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645920"/>
            <a:ext cx="914400" cy="457200"/>
          </a:xfrm>
          <a:prstGeom prst="roundRect">
            <a:avLst>
              <a:gd name="adj" fmla="val 5000"/>
            </a:avLst>
          </a:prstGeom>
          <a:solidFill>
            <a:srgbClr val="FFF0F0"/>
          </a:solidFill>
          <a:ln w="12700">
            <a:solidFill>
              <a:srgbClr val="E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900" b="0" i="0">
                <a:solidFill>
                  <a:srgbClr val="A60000"/>
                </a:solidFill>
                <a:latin typeface="Arial"/>
              </a:rPr>
              <a:t>CI/CD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26880" y="1645920"/>
            <a:ext cx="914400" cy="457200"/>
          </a:xfrm>
          <a:prstGeom prst="roundRect">
            <a:avLst>
              <a:gd name="adj" fmla="val 5000"/>
            </a:avLst>
          </a:prstGeom>
          <a:solidFill>
            <a:srgbClr val="FFF0F0"/>
          </a:solidFill>
          <a:ln w="12700">
            <a:solidFill>
              <a:srgbClr val="E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900" b="0" i="0">
                <a:solidFill>
                  <a:srgbClr val="A60000"/>
                </a:solidFill>
                <a:latin typeface="Arial"/>
              </a:rPr>
              <a:t>CI/CD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424160" y="1645920"/>
            <a:ext cx="914400" cy="457200"/>
          </a:xfrm>
          <a:prstGeom prst="roundRect">
            <a:avLst>
              <a:gd name="adj" fmla="val 5000"/>
            </a:avLst>
          </a:prstGeom>
          <a:solidFill>
            <a:srgbClr val="FFF0F0"/>
          </a:solidFill>
          <a:ln w="12700">
            <a:solidFill>
              <a:srgbClr val="E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900" b="0" i="0">
                <a:solidFill>
                  <a:srgbClr val="A60000"/>
                </a:solidFill>
                <a:latin typeface="Arial"/>
              </a:rPr>
              <a:t>CI/CD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228600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A6E73"/>
                </a:solidFill>
                <a:latin typeface="Arial"/>
              </a:rPr>
              <a:t>Azure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2286000"/>
            <a:ext cx="914400" cy="45720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900" b="0" i="0">
                <a:solidFill>
                  <a:srgbClr val="6A6E73"/>
                </a:solidFill>
                <a:latin typeface="Arial"/>
              </a:rPr>
              <a:t>CI/CD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26880" y="2286000"/>
            <a:ext cx="914400" cy="45720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900" b="0" i="0">
                <a:solidFill>
                  <a:srgbClr val="6A6E73"/>
                </a:solidFill>
                <a:latin typeface="Arial"/>
              </a:rPr>
              <a:t>CI/CD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24160" y="2286000"/>
            <a:ext cx="914400" cy="45720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900" b="0" i="0">
                <a:solidFill>
                  <a:srgbClr val="6A6E73"/>
                </a:solidFill>
                <a:latin typeface="Arial"/>
              </a:rPr>
              <a:t>CI/CD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292608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A8D90"/>
                </a:solidFill>
                <a:latin typeface="Arial"/>
              </a:rPr>
              <a:t>GCP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0" y="2926080"/>
            <a:ext cx="914400" cy="45720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900" b="0" i="0">
                <a:solidFill>
                  <a:srgbClr val="6A6E73"/>
                </a:solidFill>
                <a:latin typeface="Arial"/>
              </a:rPr>
              <a:t>CI/CD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326880" y="2926080"/>
            <a:ext cx="914400" cy="45720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900" b="0" i="0">
                <a:solidFill>
                  <a:srgbClr val="6A6E73"/>
                </a:solidFill>
                <a:latin typeface="Arial"/>
              </a:rPr>
              <a:t>CI/CD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424160" y="2926080"/>
            <a:ext cx="914400" cy="45720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900" b="0" i="0">
                <a:solidFill>
                  <a:srgbClr val="6A6E73"/>
                </a:solidFill>
                <a:latin typeface="Arial"/>
              </a:rPr>
              <a:t>CI/CD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39319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A60000"/>
                </a:solidFill>
                <a:latin typeface="Arial"/>
              </a:rPr>
              <a:t>3 个云 × 50 个函数 = 150 条管道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89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51515"/>
                </a:solidFill>
                <a:latin typeface="Arial"/>
              </a:rPr>
              <a:t>当前状态 vs. 目标状态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115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6A6E73"/>
                </a:solidFill>
                <a:latin typeface="Arial"/>
              </a:rPr>
              <a:t>从 N×M 管道到 1×M 管道的架构转型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822960"/>
            <a:ext cx="1371600" cy="381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6492240"/>
            <a:ext cx="10911535" cy="12700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5430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A6E73"/>
                </a:solidFill>
                <a:latin typeface="Arial"/>
              </a:defRPr>
            </a:pPr>
            <a:r>
              <a:t>OpenShift Serverless — 统一多云 Serverless 平台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430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A6E73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55448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A60000"/>
                </a:solidFill>
                <a:latin typeface="Arial"/>
              </a:rPr>
              <a:t>当前状态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011680"/>
            <a:ext cx="1828800" cy="640080"/>
          </a:xfrm>
          <a:prstGeom prst="roundRect">
            <a:avLst>
              <a:gd name="adj" fmla="val 5000"/>
            </a:avLst>
          </a:prstGeom>
          <a:solidFill>
            <a:srgbClr val="FFF0F0"/>
          </a:solidFill>
          <a:ln w="12700">
            <a:solidFill>
              <a:srgbClr val="E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000" b="0" i="0">
                <a:solidFill>
                  <a:srgbClr val="A60000"/>
                </a:solidFill>
                <a:latin typeface="Arial"/>
              </a:rPr>
              <a:t>AWS Lambda
(多个函数)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17520" y="2011680"/>
            <a:ext cx="2011680" cy="640080"/>
          </a:xfrm>
          <a:prstGeom prst="roundRect">
            <a:avLst>
              <a:gd name="adj" fmla="val 5000"/>
            </a:avLst>
          </a:prstGeom>
          <a:solidFill>
            <a:srgbClr val="FFF0F0"/>
          </a:solidFill>
          <a:ln w="12700">
            <a:solidFill>
              <a:srgbClr val="E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000" b="0" i="0">
                <a:solidFill>
                  <a:srgbClr val="A60000"/>
                </a:solidFill>
                <a:latin typeface="Arial"/>
              </a:rPr>
              <a:t>CI/CD for AWS
(SAM/CDK)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926080"/>
            <a:ext cx="1828800" cy="64008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000" b="0" i="0">
                <a:solidFill>
                  <a:srgbClr val="6A6E73"/>
                </a:solidFill>
                <a:latin typeface="Arial"/>
              </a:rPr>
              <a:t>Azure Functions
(未来)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17520" y="2926080"/>
            <a:ext cx="2011680" cy="64008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000" b="0" i="0">
                <a:solidFill>
                  <a:srgbClr val="6A6E73"/>
                </a:solidFill>
                <a:latin typeface="Arial"/>
              </a:rPr>
              <a:t>CI/CD for Azure
(func CLI)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931920"/>
            <a:ext cx="4206240" cy="411480"/>
          </a:xfrm>
          <a:prstGeom prst="roundRect">
            <a:avLst>
              <a:gd name="adj" fmla="val 5000"/>
            </a:avLst>
          </a:prstGeom>
          <a:solidFill>
            <a:srgbClr val="FFF0F0"/>
          </a:solidFill>
          <a:ln w="12700">
            <a:solidFill>
              <a:srgbClr val="A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200" b="1" i="0">
                <a:solidFill>
                  <a:srgbClr val="A60000"/>
                </a:solidFill>
                <a:latin typeface="Arial"/>
              </a:rPr>
              <a:t>N 云 × M 函数 = N×M 管道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760720" y="3291840"/>
            <a:ext cx="640080" cy="274320"/>
          </a:xfrm>
          <a:prstGeom prst="rightArrow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760720" y="301752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E0000"/>
                </a:solidFill>
                <a:latin typeface="Arial"/>
              </a:rPr>
              <a:t>迁移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155448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51515"/>
                </a:solidFill>
                <a:latin typeface="Arial"/>
              </a:rPr>
              <a:t>目标状态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040880" y="2011680"/>
            <a:ext cx="4114800" cy="640080"/>
          </a:xfrm>
          <a:prstGeom prst="roundRect">
            <a:avLst>
              <a:gd name="adj" fmla="val 5000"/>
            </a:avLst>
          </a:prstGeom>
          <a:solidFill>
            <a:srgbClr val="FFF0F0"/>
          </a:solidFill>
          <a:ln w="12700">
            <a:solidFill>
              <a:srgbClr val="E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100" b="1" i="0">
                <a:solidFill>
                  <a:srgbClr val="151515"/>
                </a:solidFill>
                <a:latin typeface="Arial"/>
              </a:rPr>
              <a:t>统一 CI/CD Pipeline
(Tekton + ArgoCD)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066280" y="2037080"/>
            <a:ext cx="4064000" cy="508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7040880" y="2926080"/>
            <a:ext cx="4114800" cy="45720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容器镜像 (OCI) + Knative YAML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72961" y="3657600"/>
            <a:ext cx="1188720" cy="64008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ROSA
(AWS)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544561" y="3657600"/>
            <a:ext cx="1188720" cy="64008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ARO
(Azure)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916161" y="3657600"/>
            <a:ext cx="1188720" cy="64008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OCP
(Ali/GCP)</a:t>
            </a:r>
          </a:p>
        </p:txBody>
      </p:sp>
      <p:sp>
        <p:nvSpPr>
          <p:cNvPr id="24" name="Down Arrow 23"/>
          <p:cNvSpPr/>
          <p:nvPr/>
        </p:nvSpPr>
        <p:spPr>
          <a:xfrm>
            <a:off x="7767321" y="3428999"/>
            <a:ext cx="182880" cy="182880"/>
          </a:xfrm>
          <a:prstGeom prst="downArrow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Down Arrow 24"/>
          <p:cNvSpPr/>
          <p:nvPr/>
        </p:nvSpPr>
        <p:spPr>
          <a:xfrm>
            <a:off x="9138921" y="3428999"/>
            <a:ext cx="182880" cy="182880"/>
          </a:xfrm>
          <a:prstGeom prst="downArrow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Down Arrow 25"/>
          <p:cNvSpPr/>
          <p:nvPr/>
        </p:nvSpPr>
        <p:spPr>
          <a:xfrm>
            <a:off x="10510521" y="3428999"/>
            <a:ext cx="182880" cy="182880"/>
          </a:xfrm>
          <a:prstGeom prst="downArrow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7079825" y="4572000"/>
            <a:ext cx="4206240" cy="41148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15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200" b="1" i="0">
                <a:solidFill>
                  <a:srgbClr val="151515"/>
                </a:solidFill>
                <a:latin typeface="Arial"/>
              </a:rPr>
              <a:t>1 管道 × M 函数 = M 管道 (云无关)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89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1153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 i="0">
                <a:solidFill>
                  <a:srgbClr val="EE0000"/>
                </a:solidFill>
                <a:latin typeface="Arial"/>
              </a:rPr>
              <a:t>验证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51515"/>
                </a:solidFill>
                <a:latin typeface="Arial"/>
              </a:rPr>
              <a:t>实测验证环境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9115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6A6E73"/>
                </a:solidFill>
                <a:latin typeface="Arial"/>
              </a:rPr>
              <a:t>所有数据均来自真实环境端到端测试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914400"/>
            <a:ext cx="1371600" cy="381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6492240"/>
            <a:ext cx="10911535" cy="12700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65430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A6E73"/>
                </a:solidFill>
                <a:latin typeface="Arial"/>
              </a:defRPr>
            </a:pPr>
            <a:r>
              <a:t>OpenShift Serverless — 统一多云 Serverless 平台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430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A6E73"/>
                </a:solidFill>
                <a:latin typeface="Arial"/>
              </a:defRPr>
            </a:pPr>
            <a:r>
              <a:t>5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" y="1463040"/>
          <a:ext cx="7315200" cy="2779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组件</a:t>
                      </a:r>
                    </a:p>
                  </a:txBody>
                  <a:tcPr marL="76200" marR="76200" marT="38100" marB="38100" anchor="ctr">
                    <a:solidFill>
                      <a:srgbClr val="5F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详细信息</a:t>
                      </a:r>
                    </a:p>
                  </a:txBody>
                  <a:tcPr marL="76200" marR="76200" marT="38100" marB="38100" anchor="ctr">
                    <a:solidFill>
                      <a:srgbClr val="5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B2B2B"/>
                          </a:solidFill>
                          <a:latin typeface="Arial"/>
                        </a:rPr>
                        <a:t>ROSA 集群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B2B2B"/>
                          </a:solidFill>
                          <a:latin typeface="Arial"/>
                        </a:rPr>
                        <a:t>rosa-fhmhp, Hosted CP, OCP 4.20.21, K8s v1.33.10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B2B2B"/>
                          </a:solidFill>
                          <a:latin typeface="Arial"/>
                        </a:rPr>
                        <a:t>Worker 节点</a:t>
                      </a:r>
                    </a:p>
                  </a:txBody>
                  <a:tcPr marL="76200" marR="76200" marT="38100" marB="381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B2B2B"/>
                          </a:solidFill>
                          <a:latin typeface="Arial"/>
                        </a:rPr>
                        <a:t>2x m6a.xlarge, us-east-2a</a:t>
                      </a:r>
                    </a:p>
                  </a:txBody>
                  <a:tcPr marL="76200" marR="76200" marT="38100" marB="38100" anchor="ctr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B2B2B"/>
                          </a:solidFill>
                          <a:latin typeface="Arial"/>
                        </a:rPr>
                        <a:t>AWS Region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B2B2B"/>
                          </a:solidFill>
                          <a:latin typeface="Arial"/>
                        </a:rPr>
                        <a:t>us-east-2 (Ohio)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B2B2B"/>
                          </a:solidFill>
                          <a:latin typeface="Arial"/>
                        </a:rPr>
                        <a:t>Serverless Operator</a:t>
                      </a:r>
                    </a:p>
                  </a:txBody>
                  <a:tcPr marL="76200" marR="76200" marT="38100" marB="381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B2B2B"/>
                          </a:solidFill>
                          <a:latin typeface="Arial"/>
                        </a:rPr>
                        <a:t>v1.37.1 (Knative 1.17)</a:t>
                      </a:r>
                    </a:p>
                  </a:txBody>
                  <a:tcPr marL="76200" marR="76200" marT="38100" marB="38100" anchor="ctr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B2B2B"/>
                          </a:solidFill>
                          <a:latin typeface="Arial"/>
                        </a:rPr>
                        <a:t>Serverless Logic Operator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B2B2B"/>
                          </a:solidFill>
                          <a:latin typeface="Arial"/>
                        </a:rPr>
                        <a:t>v1.37.2 (GA, stable channel)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B2B2B"/>
                          </a:solidFill>
                          <a:latin typeface="Arial"/>
                        </a:rPr>
                        <a:t>AWS Lambda Runtime</a:t>
                      </a:r>
                    </a:p>
                  </a:txBody>
                  <a:tcPr marL="76200" marR="76200" marT="38100" marB="381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B2B2B"/>
                          </a:solidFill>
                          <a:latin typeface="Arial"/>
                        </a:rPr>
                        <a:t>Python 3.12.13</a:t>
                      </a:r>
                    </a:p>
                  </a:txBody>
                  <a:tcPr marL="76200" marR="76200" marT="38100" marB="38100" anchor="ctr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B2B2B"/>
                          </a:solidFill>
                          <a:latin typeface="Arial"/>
                        </a:rPr>
                        <a:t>对比方式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B2B2B"/>
                          </a:solidFill>
                          <a:latin typeface="Arial"/>
                        </a:rPr>
                        <a:t>相同区域、相同网络条件、相同业务逻辑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11" name="Picture 10" descr="2026-05-12-20-10-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1463040"/>
            <a:ext cx="3200400" cy="348369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89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51515"/>
                </a:solidFill>
                <a:latin typeface="Arial"/>
              </a:rPr>
              <a:t>性能对比：Knative Serving vs AWS Lambda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115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6A6E73"/>
                </a:solidFill>
                <a:latin typeface="Arial"/>
              </a:rPr>
              <a:t>相同业务逻辑，相同 AWS 区域，端到端实测数据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822960"/>
            <a:ext cx="1371600" cy="381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6492240"/>
            <a:ext cx="10911535" cy="12700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5430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A6E73"/>
                </a:solidFill>
                <a:latin typeface="Arial"/>
              </a:defRPr>
            </a:pPr>
            <a:r>
              <a:t>OpenShift Serverless — 统一多云 Serverless 平台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430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A6E73"/>
                </a:solidFill>
                <a:latin typeface="Arial"/>
              </a:defRPr>
            </a:pPr>
            <a:r>
              <a:t>6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417320"/>
          <a:ext cx="10911532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78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278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278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278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指标</a:t>
                      </a:r>
                    </a:p>
                  </a:txBody>
                  <a:tcPr marL="76200" marR="76200" marT="38100" marB="38100" anchor="ctr">
                    <a:solidFill>
                      <a:srgbClr val="5F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AWS Lambda</a:t>
                      </a:r>
                    </a:p>
                  </a:txBody>
                  <a:tcPr marL="76200" marR="76200" marT="38100" marB="38100" anchor="ctr">
                    <a:solidFill>
                      <a:srgbClr val="5F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OpenShift Serverless (Knative)</a:t>
                      </a:r>
                    </a:p>
                  </a:txBody>
                  <a:tcPr marL="76200" marR="76200" marT="38100" marB="38100" anchor="ctr">
                    <a:solidFill>
                      <a:srgbClr val="5F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说明</a:t>
                      </a:r>
                    </a:p>
                  </a:txBody>
                  <a:tcPr marL="76200" marR="76200" marT="38100" marB="38100" anchor="ctr">
                    <a:solidFill>
                      <a:srgbClr val="5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</a:rPr>
                        <a:t>冷启动延迟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</a:rPr>
                        <a:t>~292ms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</a:rPr>
                        <a:t>~1.67s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</a:rPr>
                        <a:t>Lambda 冷启动更快（无需拉起 pod）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</a:rPr>
                        <a:t>热请求延迟</a:t>
                      </a:r>
                    </a:p>
                  </a:txBody>
                  <a:tcPr marL="76200" marR="76200" marT="38100" marB="381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</a:rPr>
                        <a:t>~44-55ms</a:t>
                      </a:r>
                    </a:p>
                  </a:txBody>
                  <a:tcPr marL="76200" marR="76200" marT="38100" marB="381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</a:rPr>
                        <a:t>~28-30ms</a:t>
                      </a:r>
                    </a:p>
                  </a:txBody>
                  <a:tcPr marL="76200" marR="76200" marT="38100" marB="381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</a:rPr>
                        <a:t>Knative 热请求更快（集群内网络）</a:t>
                      </a:r>
                    </a:p>
                  </a:txBody>
                  <a:tcPr marL="76200" marR="76200" marT="38100" marB="38100" anchor="ctr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</a:rPr>
                        <a:t>Scale-to-Zero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</a:rPr>
                        <a:t>自动（~15min）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</a:rPr>
                        <a:t>自动（~90s，可配置）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</a:rPr>
                        <a:t>Knative 缩零更快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</a:rPr>
                        <a:t>部署复杂度</a:t>
                      </a:r>
                    </a:p>
                  </a:txBody>
                  <a:tcPr marL="76200" marR="76200" marT="38100" marB="381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</a:rPr>
                        <a:t>11 个 CLI 命令</a:t>
                      </a:r>
                    </a:p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</a:rPr>
                        <a:t>3 个 AWS 服务</a:t>
                      </a:r>
                    </a:p>
                  </a:txBody>
                  <a:tcPr marL="76200" marR="76200" marT="38100" marB="381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</a:rPr>
                        <a:t>1 个 oc apply</a:t>
                      </a:r>
                    </a:p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</a:rPr>
                        <a:t>1 个 YAML</a:t>
                      </a:r>
                    </a:p>
                  </a:txBody>
                  <a:tcPr marL="76200" marR="76200" marT="38100" marB="381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</a:rPr>
                        <a:t>Knative 大幅简化</a:t>
                      </a:r>
                    </a:p>
                  </a:txBody>
                  <a:tcPr marL="76200" marR="76200" marT="38100" marB="38100" anchor="ctr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</a:rPr>
                        <a:t>多云支持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</a:rPr>
                        <a:t>仅 AWS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</a:rPr>
                        <a:t>ROSA / ARO / OCP</a:t>
                      </a:r>
                    </a:p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</a:rPr>
                        <a:t>（任意云）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</a:rPr>
                        <a:t>Knative 多云可移植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</a:rPr>
                        <a:t>CI/CD 管道</a:t>
                      </a:r>
                    </a:p>
                  </a:txBody>
                  <a:tcPr marL="76200" marR="76200" marT="38100" marB="381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</a:rPr>
                        <a:t>每个云单独维护</a:t>
                      </a:r>
                    </a:p>
                  </a:txBody>
                  <a:tcPr marL="76200" marR="76200" marT="38100" marB="381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</a:rPr>
                        <a:t>一套管道适配所有集群</a:t>
                      </a:r>
                    </a:p>
                  </a:txBody>
                  <a:tcPr marL="76200" marR="76200" marT="38100" marB="381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</a:rPr>
                        <a:t>运维成本 N→1</a:t>
                      </a:r>
                    </a:p>
                  </a:txBody>
                  <a:tcPr marL="76200" marR="76200" marT="38100" marB="38100" anchor="ctr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40080" y="5577840"/>
            <a:ext cx="10911535" cy="411480"/>
          </a:xfrm>
          <a:prstGeom prst="roundRect">
            <a:avLst>
              <a:gd name="adj" fmla="val 5000"/>
            </a:avLst>
          </a:prstGeom>
          <a:solidFill>
            <a:srgbClr val="FFF0F0"/>
          </a:solidFill>
          <a:ln w="12700">
            <a:solidFill>
              <a:srgbClr val="E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200" b="1" i="0">
                <a:solidFill>
                  <a:srgbClr val="A60000"/>
                </a:solidFill>
                <a:latin typeface="Arial"/>
              </a:rPr>
              <a:t>热请求延迟 Knative 比 Lambda 快 40%   |   部署复杂度降低 90%   |   CI/CD 管道从 N 条减至 1 条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89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51515"/>
                </a:solidFill>
                <a:latin typeface="Arial"/>
              </a:rPr>
              <a:t>部署复杂度：11 步 vs 1 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115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6A6E73"/>
                </a:solidFill>
                <a:latin typeface="Arial"/>
              </a:rPr>
              <a:t>创建一个简单 HTTP 函数并暴露端点所需的完整步骤对比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822960"/>
            <a:ext cx="1371600" cy="381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6492240"/>
            <a:ext cx="10911535" cy="12700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5430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A6E73"/>
                </a:solidFill>
                <a:latin typeface="Arial"/>
              </a:defRPr>
            </a:pPr>
            <a:r>
              <a:t>OpenShift Serverless — 统一多云 Serverless 平台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430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A6E73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508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A60000"/>
                </a:solidFill>
                <a:latin typeface="Arial"/>
              </a:rPr>
              <a:t>AWS Lambda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7830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A6E73"/>
                </a:solidFill>
                <a:latin typeface="Arial"/>
              </a:rPr>
              <a:t>11 个 CLI 命令 | 3 个 AWS 服务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103120"/>
            <a:ext cx="4754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B2B2B"/>
                </a:solidFill>
                <a:latin typeface="Arial"/>
              </a:rPr>
              <a:t>1. 编写函数代码 + ZIP 打包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377440"/>
            <a:ext cx="4754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B2B2B"/>
                </a:solidFill>
                <a:latin typeface="Arial"/>
              </a:rPr>
              <a:t>2. 创建 IAM Trust Policy JSON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651760"/>
            <a:ext cx="4754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B2B2B"/>
                </a:solidFill>
                <a:latin typeface="Arial"/>
              </a:rPr>
              <a:t>3. aws iam create-role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926080"/>
            <a:ext cx="4754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B2B2B"/>
                </a:solidFill>
                <a:latin typeface="Arial"/>
              </a:rPr>
              <a:t>4. aws iam attach-role-policy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200400"/>
            <a:ext cx="4754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B2B2B"/>
                </a:solidFill>
                <a:latin typeface="Arial"/>
              </a:rPr>
              <a:t>5. aws lambda create-function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474720"/>
            <a:ext cx="4754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B2B2B"/>
                </a:solidFill>
                <a:latin typeface="Arial"/>
              </a:rPr>
              <a:t>6. aws lambda wait function-active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749040"/>
            <a:ext cx="4754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B2B2B"/>
                </a:solidFill>
                <a:latin typeface="Arial"/>
              </a:rPr>
              <a:t>7. aws apigatewayv2 create-api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023360"/>
            <a:ext cx="4754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B2B2B"/>
                </a:solidFill>
                <a:latin typeface="Arial"/>
              </a:rPr>
              <a:t>8. aws lambda add-permission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297680"/>
            <a:ext cx="4754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B2B2B"/>
                </a:solidFill>
                <a:latin typeface="Arial"/>
              </a:rPr>
              <a:t>9. aws apigatewayv2 create-integration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572000"/>
            <a:ext cx="4754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B2B2B"/>
                </a:solidFill>
                <a:latin typeface="Arial"/>
              </a:rPr>
              <a:t>10. aws apigatewayv2 create-route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846320"/>
            <a:ext cx="4754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B2B2B"/>
                </a:solidFill>
                <a:latin typeface="Arial"/>
              </a:rPr>
              <a:t>11. aws apigatewayv2 create-stage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257800"/>
            <a:ext cx="3200400" cy="320040"/>
          </a:xfrm>
          <a:prstGeom prst="roundRect">
            <a:avLst>
              <a:gd name="adj" fmla="val 5000"/>
            </a:avLst>
          </a:prstGeom>
          <a:solidFill>
            <a:srgbClr val="FFF0F0"/>
          </a:solidFill>
          <a:ln w="12700">
            <a:solidFill>
              <a:srgbClr val="E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000" b="1" i="0">
                <a:solidFill>
                  <a:srgbClr val="A60000"/>
                </a:solidFill>
                <a:latin typeface="Arial"/>
              </a:rPr>
              <a:t>IAM + Lambda + API Gateway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15087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51515"/>
                </a:solidFill>
                <a:latin typeface="Arial"/>
              </a:rPr>
              <a:t>OpenShift Serverless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178308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A6E73"/>
                </a:solidFill>
                <a:latin typeface="Arial"/>
              </a:rPr>
              <a:t>1 个命令 | 1 个 API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92240" y="2103120"/>
            <a:ext cx="4754880" cy="50292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15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400" b="1" i="0">
                <a:solidFill>
                  <a:srgbClr val="151515"/>
                </a:solidFill>
                <a:latin typeface="Arial"/>
              </a:rPr>
              <a:t>oc apply -f knative-service.yaml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288036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B2B2B"/>
                </a:solidFill>
                <a:latin typeface="Arial"/>
              </a:rPr>
              <a:t>✓  路由自动生成 (HTTPS)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3172968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B2B2B"/>
                </a:solidFill>
                <a:latin typeface="Arial"/>
              </a:rPr>
              <a:t>✓  TLS 证书自动配置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3465576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B2B2B"/>
                </a:solidFill>
                <a:latin typeface="Arial"/>
              </a:rPr>
              <a:t>✓  自动扩缩策略通过 annotation 声明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3758184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B2B2B"/>
                </a:solidFill>
                <a:latin typeface="Arial"/>
              </a:rPr>
              <a:t>✓  无需 IAM、API Gateway、权限配置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4050792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B2B2B"/>
                </a:solidFill>
                <a:latin typeface="Arial"/>
              </a:rPr>
              <a:t>✓  无需等待激活 — 约 10s 即就绪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0" y="1508760"/>
            <a:ext cx="25400" cy="4572000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89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51515"/>
                </a:solidFill>
                <a:latin typeface="Arial"/>
              </a:rPr>
              <a:t>开发体验：kn func vs Lambda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115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6A6E73"/>
                </a:solidFill>
                <a:latin typeface="Arial"/>
              </a:rPr>
              <a:t>"只写代码，不关心容器" — 与 Lambda 完全等价的开发体验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822960"/>
            <a:ext cx="1371600" cy="381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6492240"/>
            <a:ext cx="10911535" cy="12700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5430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A6E73"/>
                </a:solidFill>
                <a:latin typeface="Arial"/>
              </a:defRPr>
            </a:pPr>
            <a:r>
              <a:t>OpenShift Serverless — 统一多云 Serverless 平台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430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A6E73"/>
                </a:solidFill>
                <a:latin typeface="Arial"/>
              </a:defRPr>
            </a:pPr>
            <a:r>
              <a:t>8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417320"/>
          <a:ext cx="10911534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1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371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371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步骤</a:t>
                      </a:r>
                    </a:p>
                  </a:txBody>
                  <a:tcPr marL="76200" marR="76200" marT="38100" marB="38100" anchor="ctr">
                    <a:solidFill>
                      <a:srgbClr val="5F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AWS Lambda</a:t>
                      </a:r>
                    </a:p>
                  </a:txBody>
                  <a:tcPr marL="76200" marR="76200" marT="38100" marB="38100" anchor="ctr">
                    <a:solidFill>
                      <a:srgbClr val="5F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kn func (Knative Functions)</a:t>
                      </a:r>
                    </a:p>
                  </a:txBody>
                  <a:tcPr marL="76200" marR="76200" marT="38100" marB="38100" anchor="ctr">
                    <a:solidFill>
                      <a:srgbClr val="5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</a:rPr>
                        <a:t>脚手架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</a:rPr>
                        <a:t>sam init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</a:rPr>
                        <a:t>kn func create -l python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</a:rPr>
                        <a:t>写代码</a:t>
                      </a:r>
                    </a:p>
                  </a:txBody>
                  <a:tcPr marL="76200" marR="76200" marT="38100" marB="381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</a:rPr>
                        <a:t>lambda_handler(event, context)</a:t>
                      </a:r>
                    </a:p>
                  </a:txBody>
                  <a:tcPr marL="76200" marR="76200" marT="38100" marB="381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</a:rPr>
                        <a:t>Function.handle(scope, receive, send)</a:t>
                      </a:r>
                    </a:p>
                  </a:txBody>
                  <a:tcPr marL="76200" marR="76200" marT="38100" marB="38100" anchor="ctr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</a:rPr>
                        <a:t>构建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</a:rPr>
                        <a:t>sam build / zip 打包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</a:rPr>
                        <a:t>kn func build (S2I, 无需 Dockerfile)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</a:rPr>
                        <a:t>部署</a:t>
                      </a:r>
                    </a:p>
                  </a:txBody>
                  <a:tcPr marL="76200" marR="76200" marT="38100" marB="381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</a:rPr>
                        <a:t>sam deploy + IAM + API GW</a:t>
                      </a:r>
                    </a:p>
                  </a:txBody>
                  <a:tcPr marL="76200" marR="76200" marT="38100" marB="381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</a:rPr>
                        <a:t>kn service create --image ...</a:t>
                      </a:r>
                    </a:p>
                  </a:txBody>
                  <a:tcPr marL="76200" marR="76200" marT="38100" marB="38100" anchor="ctr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</a:rPr>
                        <a:t>Dockerfile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</a:rPr>
                        <a:t>不需要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</a:rPr>
                        <a:t>不需要 (S2I 自动构建)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</a:rPr>
                        <a:t>SDK 依赖</a:t>
                      </a:r>
                    </a:p>
                  </a:txBody>
                  <a:tcPr marL="76200" marR="76200" marT="38100" marB="381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</a:rPr>
                        <a:t>AWS SDK, boto3</a:t>
                      </a:r>
                    </a:p>
                  </a:txBody>
                  <a:tcPr marL="76200" marR="76200" marT="38100" marB="381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</a:rPr>
                        <a:t>无 (标准 HTTP/ASGI)</a:t>
                      </a:r>
                    </a:p>
                  </a:txBody>
                  <a:tcPr marL="76200" marR="76200" marT="38100" marB="38100" anchor="ctr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</a:rPr>
                        <a:t>支持语言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</a:rPr>
                        <a:t>Python/Node/Go/Java/...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</a:rPr>
                        <a:t>Python/Node/Go/Quarkus/Rust/TS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</a:rPr>
                        <a:t>热请求延迟</a:t>
                      </a:r>
                    </a:p>
                  </a:txBody>
                  <a:tcPr marL="76200" marR="76200" marT="38100" marB="381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</a:rPr>
                        <a:t>~44-55ms</a:t>
                      </a:r>
                    </a:p>
                  </a:txBody>
                  <a:tcPr marL="76200" marR="76200" marT="38100" marB="381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</a:rPr>
                        <a:t>~28-31ms</a:t>
                      </a:r>
                    </a:p>
                  </a:txBody>
                  <a:tcPr marL="76200" marR="76200" marT="38100" marB="38100" anchor="ctr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</a:rPr>
                        <a:t>多云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</a:rPr>
                        <a:t>仅 AWS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</a:rPr>
                        <a:t>任何 OCP 集群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" y="5669280"/>
            <a:ext cx="109115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A6E73"/>
                </a:solidFill>
                <a:latin typeface="Arial"/>
              </a:rPr>
              <a:t>同时支持 Dockerfile 标准构建 — 运行时完全相同，适配已有 CI/CD 流程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89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51515"/>
                </a:solidFill>
                <a:latin typeface="Arial"/>
              </a:rPr>
              <a:t>Scale-to-Zero：自动成本优化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115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6A6E73"/>
                </a:solidFill>
                <a:latin typeface="Arial"/>
              </a:rPr>
              <a:t>无流量时 Pod→0, 节点→0, 计算成本→$0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822960"/>
            <a:ext cx="1371600" cy="381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6492240"/>
            <a:ext cx="10911535" cy="12700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5430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A6E73"/>
                </a:solidFill>
                <a:latin typeface="Arial"/>
              </a:defRPr>
            </a:pPr>
            <a:r>
              <a:t>OpenShift Serverless — 统一多云 Serverless 平台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430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A6E73"/>
                </a:solidFill>
                <a:latin typeface="Arial"/>
              </a:defRPr>
            </a:pPr>
            <a: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5544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60000"/>
                </a:solidFill>
                <a:latin typeface="Arial"/>
              </a:rPr>
              <a:t>无流量时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874520"/>
            <a:ext cx="2194560" cy="77724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请求速率 = 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0" y="1874520"/>
            <a:ext cx="2194560" cy="77724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Knative
Scale-to-Zero
Pods = 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60720" y="1874520"/>
            <a:ext cx="2194560" cy="77724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机器池
节点 = 0
(自动缩容)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03920" y="1874520"/>
            <a:ext cx="2194560" cy="77724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成本 = $0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2834640" y="2148840"/>
            <a:ext cx="320040" cy="182880"/>
          </a:xfrm>
          <a:prstGeom prst="rightArrow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ight Arrow 14"/>
          <p:cNvSpPr/>
          <p:nvPr/>
        </p:nvSpPr>
        <p:spPr>
          <a:xfrm>
            <a:off x="5394960" y="2148840"/>
            <a:ext cx="320040" cy="182880"/>
          </a:xfrm>
          <a:prstGeom prst="rightArrow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ight Arrow 15"/>
          <p:cNvSpPr/>
          <p:nvPr/>
        </p:nvSpPr>
        <p:spPr>
          <a:xfrm>
            <a:off x="8138160" y="2148840"/>
            <a:ext cx="320040" cy="182880"/>
          </a:xfrm>
          <a:prstGeom prst="rightArrow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31089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51515"/>
                </a:solidFill>
                <a:latin typeface="Arial"/>
              </a:rPr>
              <a:t>流量到达时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429000"/>
            <a:ext cx="1828800" cy="777240"/>
          </a:xfrm>
          <a:prstGeom prst="roundRect">
            <a:avLst>
              <a:gd name="adj" fmla="val 5000"/>
            </a:avLst>
          </a:prstGeom>
          <a:solidFill>
            <a:srgbClr val="FFF0F0"/>
          </a:solidFill>
          <a:ln w="12700">
            <a:solidFill>
              <a:srgbClr val="E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请求到达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0" y="3429000"/>
            <a:ext cx="1828800" cy="777240"/>
          </a:xfrm>
          <a:prstGeom prst="roundRect">
            <a:avLst>
              <a:gd name="adj" fmla="val 5000"/>
            </a:avLst>
          </a:prstGeom>
          <a:solidFill>
            <a:srgbClr val="FFF0F0"/>
          </a:solidFill>
          <a:ln w="12700">
            <a:solidFill>
              <a:srgbClr val="E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Activator
缓冲请求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46320" y="3429000"/>
            <a:ext cx="1828800" cy="777240"/>
          </a:xfrm>
          <a:prstGeom prst="roundRect">
            <a:avLst>
              <a:gd name="adj" fmla="val 5000"/>
            </a:avLst>
          </a:prstGeom>
          <a:solidFill>
            <a:srgbClr val="FFF0F0"/>
          </a:solidFill>
          <a:ln w="12700">
            <a:solidFill>
              <a:srgbClr val="E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集群自动扩容
添加节点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949440" y="3429000"/>
            <a:ext cx="1828800" cy="777240"/>
          </a:xfrm>
          <a:prstGeom prst="roundRect">
            <a:avLst>
              <a:gd name="adj" fmla="val 5000"/>
            </a:avLst>
          </a:prstGeom>
          <a:solidFill>
            <a:srgbClr val="FFF0F0"/>
          </a:solidFill>
          <a:ln w="12700">
            <a:solidFill>
              <a:srgbClr val="E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Knative Pod
启动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52560" y="3429000"/>
            <a:ext cx="1828800" cy="777240"/>
          </a:xfrm>
          <a:prstGeom prst="roundRect">
            <a:avLst>
              <a:gd name="adj" fmla="val 5000"/>
            </a:avLst>
          </a:prstGeom>
          <a:solidFill>
            <a:srgbClr val="FFF0F0"/>
          </a:solidFill>
          <a:ln w="12700">
            <a:solidFill>
              <a:srgbClr val="E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请求被处理
(冷启动 ~1.5s)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2468880" y="3703320"/>
            <a:ext cx="274320" cy="182880"/>
          </a:xfrm>
          <a:prstGeom prst="rightArrow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ight Arrow 23"/>
          <p:cNvSpPr/>
          <p:nvPr/>
        </p:nvSpPr>
        <p:spPr>
          <a:xfrm>
            <a:off x="4572000" y="3703320"/>
            <a:ext cx="274320" cy="182880"/>
          </a:xfrm>
          <a:prstGeom prst="rightArrow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ight Arrow 24"/>
          <p:cNvSpPr/>
          <p:nvPr/>
        </p:nvSpPr>
        <p:spPr>
          <a:xfrm>
            <a:off x="6675120" y="3703320"/>
            <a:ext cx="274320" cy="182880"/>
          </a:xfrm>
          <a:prstGeom prst="rightArrow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ight Arrow 25"/>
          <p:cNvSpPr/>
          <p:nvPr/>
        </p:nvSpPr>
        <p:spPr>
          <a:xfrm>
            <a:off x="8778240" y="3703320"/>
            <a:ext cx="274320" cy="182880"/>
          </a:xfrm>
          <a:prstGeom prst="rightArrow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0080" y="47548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A6E73"/>
                </a:solidFill>
                <a:latin typeface="Arial"/>
              </a:rPr>
              <a:t>缩零时间线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5074920"/>
            <a:ext cx="2286000" cy="54864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900" b="0" i="0">
                <a:solidFill>
                  <a:srgbClr val="2B2B2B"/>
                </a:solidFill>
                <a:latin typeface="Arial"/>
              </a:rPr>
              <a:t>15-30s 宽限期
(pods 仍运行)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74720" y="5074920"/>
            <a:ext cx="2286000" cy="54864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900" b="0" i="0">
                <a:solidFill>
                  <a:srgbClr val="2B2B2B"/>
                </a:solidFill>
                <a:latin typeface="Arial"/>
              </a:rPr>
              <a:t>60s 稳定窗口
(pods 终止)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09360" y="5074920"/>
            <a:ext cx="2286000" cy="54864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900" b="0" i="0">
                <a:solidFill>
                  <a:srgbClr val="2B2B2B"/>
                </a:solidFill>
                <a:latin typeface="Arial"/>
              </a:rPr>
              <a:t>节点空闲 10m
(节点被移除)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44000" y="5074920"/>
            <a:ext cx="1828800" cy="54864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900" b="0" i="0">
                <a:solidFill>
                  <a:srgbClr val="2B2B2B"/>
                </a:solidFill>
                <a:latin typeface="Arial"/>
              </a:rPr>
              <a:t>计算成本 $0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2926080" y="5257800"/>
            <a:ext cx="457200" cy="137160"/>
          </a:xfrm>
          <a:prstGeom prst="rightArrow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ight Arrow 32"/>
          <p:cNvSpPr/>
          <p:nvPr/>
        </p:nvSpPr>
        <p:spPr>
          <a:xfrm>
            <a:off x="5760720" y="5257800"/>
            <a:ext cx="457200" cy="137160"/>
          </a:xfrm>
          <a:prstGeom prst="rightArrow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ight Arrow 33"/>
          <p:cNvSpPr/>
          <p:nvPr/>
        </p:nvSpPr>
        <p:spPr>
          <a:xfrm>
            <a:off x="8595360" y="5257800"/>
            <a:ext cx="457200" cy="137160"/>
          </a:xfrm>
          <a:prstGeom prst="rightArrow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89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1153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 i="0">
                <a:solidFill>
                  <a:srgbClr val="EE0000"/>
                </a:solidFill>
                <a:latin typeface="Arial"/>
              </a:rPr>
              <a:t>成本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51515"/>
                </a:solidFill>
                <a:latin typeface="Arial"/>
              </a:rPr>
              <a:t>成本对比模型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9115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6A6E73"/>
                </a:solidFill>
                <a:latin typeface="Arial"/>
              </a:rPr>
              <a:t>50 个函数场景下的月度成本估算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914400"/>
            <a:ext cx="1371600" cy="381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6492240"/>
            <a:ext cx="10911535" cy="12700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65430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A6E73"/>
                </a:solidFill>
                <a:latin typeface="Arial"/>
              </a:defRPr>
            </a:pPr>
            <a:r>
              <a:t>OpenShift Serverless — 统一多云 Serverless 平台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430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A6E73"/>
                </a:solidFill>
                <a:latin typeface="Arial"/>
              </a:defRPr>
            </a:pPr>
            <a:r>
              <a:t>10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" y="1417320"/>
          <a:ext cx="7315200" cy="2779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因素</a:t>
                      </a:r>
                    </a:p>
                  </a:txBody>
                  <a:tcPr marL="76200" marR="76200" marT="38100" marB="38100" anchor="ctr">
                    <a:solidFill>
                      <a:srgbClr val="5F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AWS Lambda</a:t>
                      </a:r>
                    </a:p>
                  </a:txBody>
                  <a:tcPr marL="76200" marR="76200" marT="38100" marB="38100" anchor="ctr">
                    <a:solidFill>
                      <a:srgbClr val="5F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Knative on ROSA (Spot)</a:t>
                      </a:r>
                    </a:p>
                  </a:txBody>
                  <a:tcPr marL="76200" marR="76200" marT="38100" marB="38100" anchor="ctr">
                    <a:solidFill>
                      <a:srgbClr val="5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B2B2B"/>
                          </a:solidFill>
                          <a:latin typeface="Arial"/>
                        </a:rPr>
                        <a:t>调用成本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B2B2B"/>
                          </a:solidFill>
                          <a:latin typeface="Arial"/>
                        </a:rPr>
                        <a:t>$0.20/百万请求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B2B2B"/>
                          </a:solidFill>
                          <a:latin typeface="Arial"/>
                        </a:rPr>
                        <a:t>$0（包含在计算中）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B2B2B"/>
                          </a:solidFill>
                          <a:latin typeface="Arial"/>
                        </a:rPr>
                        <a:t>计算 (128MB, 1s)</a:t>
                      </a:r>
                    </a:p>
                  </a:txBody>
                  <a:tcPr marL="76200" marR="76200" marT="38100" marB="381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B2B2B"/>
                          </a:solidFill>
                          <a:latin typeface="Arial"/>
                        </a:rPr>
                        <a:t>$0.0000021/请求</a:t>
                      </a:r>
                    </a:p>
                  </a:txBody>
                  <a:tcPr marL="76200" marR="76200" marT="38100" marB="381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B2B2B"/>
                          </a:solidFill>
                          <a:latin typeface="Arial"/>
                        </a:rPr>
                        <a:t>Scale-to-zero = 空闲时 $0</a:t>
                      </a:r>
                    </a:p>
                  </a:txBody>
                  <a:tcPr marL="76200" marR="76200" marT="38100" marB="38100" anchor="ctr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B2B2B"/>
                          </a:solidFill>
                          <a:latin typeface="Arial"/>
                        </a:rPr>
                        <a:t>预热成本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B2B2B"/>
                          </a:solidFill>
                          <a:latin typeface="Arial"/>
                        </a:rPr>
                        <a:t>Provisioned Concurrency $$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B2B2B"/>
                          </a:solidFill>
                          <a:latin typeface="Arial"/>
                        </a:rPr>
                        <a:t>minScale=0, 空闲无成本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B2B2B"/>
                          </a:solidFill>
                          <a:latin typeface="Arial"/>
                        </a:rPr>
                        <a:t>数据传输</a:t>
                      </a:r>
                    </a:p>
                  </a:txBody>
                  <a:tcPr marL="76200" marR="76200" marT="38100" marB="381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B2B2B"/>
                          </a:solidFill>
                          <a:latin typeface="Arial"/>
                        </a:rPr>
                        <a:t>跨服务收费</a:t>
                      </a:r>
                    </a:p>
                  </a:txBody>
                  <a:tcPr marL="76200" marR="76200" marT="38100" marB="381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B2B2B"/>
                          </a:solidFill>
                          <a:latin typeface="Arial"/>
                        </a:rPr>
                        <a:t>集群内 = 免费</a:t>
                      </a:r>
                    </a:p>
                  </a:txBody>
                  <a:tcPr marL="76200" marR="76200" marT="38100" marB="38100" anchor="ctr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B2B2B"/>
                          </a:solidFill>
                          <a:latin typeface="Arial"/>
                        </a:rPr>
                        <a:t>多云开销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B2B2B"/>
                          </a:solidFill>
                          <a:latin typeface="Arial"/>
                        </a:rPr>
                        <a:t>N/A（单云）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B2B2B"/>
                          </a:solidFill>
                          <a:latin typeface="Arial"/>
                        </a:rPr>
                        <a:t>同一镜像，同一 YAML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B2B2B"/>
                          </a:solidFill>
                          <a:latin typeface="Arial"/>
                        </a:rPr>
                        <a:t>CI/CD 管道成本</a:t>
                      </a:r>
                    </a:p>
                  </a:txBody>
                  <a:tcPr marL="76200" marR="76200" marT="38100" marB="381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B2B2B"/>
                          </a:solidFill>
                          <a:latin typeface="Arial"/>
                        </a:rPr>
                        <a:t>每云单独 $$</a:t>
                      </a:r>
                    </a:p>
                  </a:txBody>
                  <a:tcPr marL="76200" marR="76200" marT="38100" marB="381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B2B2B"/>
                          </a:solidFill>
                          <a:latin typeface="Arial"/>
                        </a:rPr>
                        <a:t>一条管道适配所有</a:t>
                      </a:r>
                    </a:p>
                  </a:txBody>
                  <a:tcPr marL="76200" marR="76200" marT="38100" marB="38100" anchor="ctr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B2B2B"/>
                          </a:solidFill>
                          <a:latin typeface="Arial"/>
                        </a:rPr>
                        <a:t>节点空闲成本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B2B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B2B2B"/>
                          </a:solidFill>
                          <a:latin typeface="Arial"/>
                        </a:rPr>
                        <a:t>$0（自动缩容移除节点）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40080" y="4754880"/>
          <a:ext cx="7315200" cy="1389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流量场景</a:t>
                      </a:r>
                    </a:p>
                  </a:txBody>
                  <a:tcPr marL="76200" marR="76200" marT="38100" marB="38100" anchor="ctr">
                    <a:solidFill>
                      <a:srgbClr val="A6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AWS Lambda</a:t>
                      </a:r>
                    </a:p>
                  </a:txBody>
                  <a:tcPr marL="76200" marR="76200" marT="38100" marB="38100" anchor="ctr">
                    <a:solidFill>
                      <a:srgbClr val="A6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Knative on ROSA (Spot)</a:t>
                      </a:r>
                    </a:p>
                  </a:txBody>
                  <a:tcPr marL="76200" marR="76200" marT="38100" marB="38100" anchor="ctr">
                    <a:solidFill>
                      <a:srgbClr val="A6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节省</a:t>
                      </a:r>
                    </a:p>
                  </a:txBody>
                  <a:tcPr marL="76200" marR="76200" marT="38100" marB="38100" anchor="ctr">
                    <a:solidFill>
                      <a:srgbClr val="A6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B2B2B"/>
                          </a:solidFill>
                          <a:latin typeface="Arial"/>
                        </a:rPr>
                        <a:t>低流量（间歇性）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B2B2B"/>
                          </a:solidFill>
                          <a:latin typeface="Arial"/>
                        </a:rPr>
                        <a:t>$200-500/月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B2B2B"/>
                          </a:solidFill>
                          <a:latin typeface="Arial"/>
                        </a:rPr>
                        <a:t>~$0（全部缩零）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B2B2B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B2B2B"/>
                          </a:solidFill>
                          <a:latin typeface="Arial"/>
                        </a:rPr>
                        <a:t>中等流量</a:t>
                      </a:r>
                    </a:p>
                  </a:txBody>
                  <a:tcPr marL="76200" marR="76200" marT="38100" marB="381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B2B2B"/>
                          </a:solidFill>
                          <a:latin typeface="Arial"/>
                        </a:rPr>
                        <a:t>$500-2000+/月</a:t>
                      </a:r>
                    </a:p>
                  </a:txBody>
                  <a:tcPr marL="76200" marR="76200" marT="38100" marB="381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B2B2B"/>
                          </a:solidFill>
                          <a:latin typeface="Arial"/>
                        </a:rPr>
                        <a:t>$200-600/月</a:t>
                      </a:r>
                    </a:p>
                  </a:txBody>
                  <a:tcPr marL="76200" marR="76200" marT="38100" marB="381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B2B2B"/>
                          </a:solidFill>
                          <a:latin typeface="Arial"/>
                        </a:rPr>
                        <a:t>60-70%</a:t>
                      </a:r>
                    </a:p>
                  </a:txBody>
                  <a:tcPr marL="76200" marR="76200" marT="38100" marB="38100" anchor="ctr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B2B2B"/>
                          </a:solidFill>
                          <a:latin typeface="Arial"/>
                        </a:rPr>
                        <a:t>跨 3 个云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B2B2B"/>
                          </a:solidFill>
                          <a:latin typeface="Arial"/>
                        </a:rPr>
                        <a:t>3× 成本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B2B2B"/>
                          </a:solidFill>
                          <a:latin typeface="Arial"/>
                        </a:rPr>
                        <a:t>1× CI/CD + 3× OCP 计算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B2B2B"/>
                          </a:solidFill>
                          <a:latin typeface="Arial"/>
                        </a:rPr>
                        <a:t>50%+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40080" y="5989320"/>
            <a:ext cx="109115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A6E73"/>
                </a:solidFill>
                <a:latin typeface="Arial"/>
              </a:rPr>
              <a:t>注意：持续高流量函数 Lambda 可能更具成本优势。Knative 在突发/间歇性工作负载和多云场景中表现更优。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89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51515"/>
                </a:solidFill>
                <a:latin typeface="Arial"/>
              </a:rPr>
              <a:t>事件驱动架构：Knative Eventing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115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6A6E73"/>
                </a:solidFill>
                <a:latin typeface="Arial"/>
              </a:rPr>
              <a:t>统一事件模型，替代 CloudWatch Events / SQS / S3 触发器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822960"/>
            <a:ext cx="1371600" cy="381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6492240"/>
            <a:ext cx="10911535" cy="12700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5430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A6E73"/>
                </a:solidFill>
                <a:latin typeface="Arial"/>
              </a:defRPr>
            </a:pPr>
            <a:r>
              <a:t>OpenShift Serverless — 统一多云 Serverless 平台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430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A6E73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554480"/>
            <a:ext cx="3291840" cy="365760"/>
          </a:xfrm>
          <a:prstGeom prst="roundRect">
            <a:avLst>
              <a:gd name="adj" fmla="val 5000"/>
            </a:avLst>
          </a:prstGeom>
          <a:solidFill>
            <a:srgbClr val="FFF0F0"/>
          </a:solidFill>
          <a:ln w="12700">
            <a:solidFill>
              <a:srgbClr val="E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200" b="1" i="0">
                <a:solidFill>
                  <a:srgbClr val="A60000"/>
                </a:solidFill>
                <a:latin typeface="Arial"/>
              </a:rPr>
              <a:t>模式 1: Direct Sink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5480" y="1579880"/>
            <a:ext cx="3241040" cy="508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201168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B2B2B"/>
                </a:solidFill>
                <a:latin typeface="Arial"/>
              </a:rPr>
              <a:t>PingSource → Service
点对点，零中间件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2651760"/>
            <a:ext cx="1371600" cy="274320"/>
          </a:xfrm>
          <a:prstGeom prst="roundRect">
            <a:avLst>
              <a:gd name="adj" fmla="val 5000"/>
            </a:avLst>
          </a:prstGeom>
          <a:solidFill>
            <a:srgbClr val="EE0000"/>
          </a:solidFill>
          <a:ln w="12700">
            <a:solidFill>
              <a:srgbClr val="E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rial"/>
              </a:rPr>
              <a:t>当前 Demo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1554480"/>
            <a:ext cx="3291840" cy="36576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200" b="1" i="0">
                <a:solidFill>
                  <a:srgbClr val="2B2B2B"/>
                </a:solidFill>
                <a:latin typeface="Arial"/>
              </a:rPr>
              <a:t>模式 2: Channel + Sub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01168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B2B2B"/>
                </a:solidFill>
                <a:latin typeface="Arial"/>
              </a:rPr>
              <a:t>Source → Channel → Service A/B
扇出，按顺序投递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54880" y="2651760"/>
            <a:ext cx="1371600" cy="27432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900" b="1" i="0">
                <a:solidFill>
                  <a:srgbClr val="6A6E73"/>
                </a:solidFill>
                <a:latin typeface="Arial"/>
              </a:rPr>
              <a:t>中等复杂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80" y="1554480"/>
            <a:ext cx="3291840" cy="36576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200" b="1" i="0">
                <a:solidFill>
                  <a:srgbClr val="2B2B2B"/>
                </a:solidFill>
                <a:latin typeface="Arial"/>
              </a:rPr>
              <a:t>模式 3: Broker + Trigger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201168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B2B2B"/>
                </a:solidFill>
                <a:latin typeface="Arial"/>
              </a:rPr>
              <a:t>多 Source → Broker → 多 Service
按属性过滤路由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0" y="2651760"/>
            <a:ext cx="1371600" cy="27432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900" b="1" i="0">
                <a:solidFill>
                  <a:srgbClr val="6A6E73"/>
                </a:solidFill>
                <a:latin typeface="Arial"/>
              </a:rPr>
              <a:t>生产推荐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40080" y="3337560"/>
          <a:ext cx="10911534" cy="1975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1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371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371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Lambda 触发器</a:t>
                      </a:r>
                    </a:p>
                  </a:txBody>
                  <a:tcPr marL="76200" marR="76200" marT="38100" marB="38100" anchor="ctr">
                    <a:solidFill>
                      <a:srgbClr val="5F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Knative 等价物</a:t>
                      </a:r>
                    </a:p>
                  </a:txBody>
                  <a:tcPr marL="76200" marR="76200" marT="38100" marB="38100" anchor="ctr">
                    <a:solidFill>
                      <a:srgbClr val="5F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投递模式</a:t>
                      </a:r>
                    </a:p>
                  </a:txBody>
                  <a:tcPr marL="76200" marR="76200" marT="38100" marB="38100" anchor="ctr">
                    <a:solidFill>
                      <a:srgbClr val="5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B2B2B"/>
                          </a:solidFill>
                          <a:latin typeface="Arial"/>
                        </a:rPr>
                        <a:t>CloudWatch Events / EventBridge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B2B2B"/>
                          </a:solidFill>
                          <a:latin typeface="Arial"/>
                        </a:rPr>
                        <a:t>PingSource (cron 定时)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B2B2B"/>
                          </a:solidFill>
                          <a:latin typeface="Arial"/>
                        </a:rPr>
                        <a:t>Direct Sink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B2B2B"/>
                          </a:solidFill>
                          <a:latin typeface="Arial"/>
                        </a:rPr>
                        <a:t>SQS 触发器</a:t>
                      </a:r>
                    </a:p>
                  </a:txBody>
                  <a:tcPr marL="76200" marR="76200" marT="38100" marB="381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B2B2B"/>
                          </a:solidFill>
                          <a:latin typeface="Arial"/>
                        </a:rPr>
                        <a:t>KafkaSource + AMQ Streams</a:t>
                      </a:r>
                    </a:p>
                  </a:txBody>
                  <a:tcPr marL="76200" marR="76200" marT="38100" marB="381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B2B2B"/>
                          </a:solidFill>
                          <a:latin typeface="Arial"/>
                        </a:rPr>
                        <a:t>Channel / Broker</a:t>
                      </a:r>
                    </a:p>
                  </a:txBody>
                  <a:tcPr marL="76200" marR="76200" marT="38100" marB="38100" anchor="ctr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B2B2B"/>
                          </a:solidFill>
                          <a:latin typeface="Arial"/>
                        </a:rPr>
                        <a:t>S3 事件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B2B2B"/>
                          </a:solidFill>
                          <a:latin typeface="Arial"/>
                        </a:rPr>
                        <a:t>SinkBinding via Eventing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B2B2B"/>
                          </a:solidFill>
                          <a:latin typeface="Arial"/>
                        </a:rPr>
                        <a:t>Broker + Trigger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B2B2B"/>
                          </a:solidFill>
                          <a:latin typeface="Arial"/>
                        </a:rPr>
                        <a:t>API Gateway</a:t>
                      </a:r>
                    </a:p>
                  </a:txBody>
                  <a:tcPr marL="76200" marR="76200" marT="38100" marB="381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B2B2B"/>
                          </a:solidFill>
                          <a:latin typeface="Arial"/>
                        </a:rPr>
                        <a:t>Knative Route (自动创建)</a:t>
                      </a:r>
                    </a:p>
                  </a:txBody>
                  <a:tcPr marL="76200" marR="76200" marT="38100" marB="381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B2B2B"/>
                          </a:solidFill>
                          <a:latin typeface="Arial"/>
                        </a:rPr>
                        <a:t>HTTP 直接</a:t>
                      </a:r>
                    </a:p>
                  </a:txBody>
                  <a:tcPr marL="76200" marR="76200" marT="38100" marB="38100" anchor="ctr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B2B2B"/>
                          </a:solidFill>
                          <a:latin typeface="Arial"/>
                        </a:rPr>
                        <a:t>SNS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B2B2B"/>
                          </a:solidFill>
                          <a:latin typeface="Arial"/>
                        </a:rPr>
                        <a:t>Knative Channel + Subscription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B2B2B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40080" y="5760720"/>
            <a:ext cx="109115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A6E73"/>
                </a:solidFill>
                <a:latin typeface="Arial"/>
              </a:rPr>
              <a:t>设计理念：简单场景零中间件 (Direct Sink)，复杂场景按需引入 Channel/Broker + Kafka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89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1153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 i="0">
                <a:solidFill>
                  <a:srgbClr val="EE0000"/>
                </a:solidFill>
                <a:latin typeface="Arial"/>
              </a:rPr>
              <a:t>核心诉求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51515"/>
                </a:solidFill>
                <a:latin typeface="Arial"/>
              </a:rPr>
              <a:t>工作流编排：SonataFlow (Serverless Logic)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9115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6A6E73"/>
                </a:solidFill>
                <a:latin typeface="Arial"/>
              </a:rPr>
              <a:t>替代 AWS Step Functions — 基于 CNCF Serverless Workflow 开放标准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914400"/>
            <a:ext cx="1371600" cy="381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6492240"/>
            <a:ext cx="10911535" cy="12700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65430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A6E73"/>
                </a:solidFill>
                <a:latin typeface="Arial"/>
              </a:defRPr>
            </a:pPr>
            <a:r>
              <a:t>OpenShift Serverless — 统一多云 Serverless 平台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430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A6E73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5544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51515"/>
                </a:solidFill>
                <a:latin typeface="Arial"/>
              </a:rPr>
              <a:t>订单处理工作流 — 实测示例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011680"/>
            <a:ext cx="1463040" cy="502920"/>
          </a:xfrm>
          <a:prstGeom prst="roundRect">
            <a:avLst>
              <a:gd name="adj" fmla="val 5000"/>
            </a:avLst>
          </a:prstGeom>
          <a:solidFill>
            <a:srgbClr val="FFF0F0"/>
          </a:solidFill>
          <a:ln w="12700">
            <a:solidFill>
              <a:srgbClr val="E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000" b="1" i="0">
                <a:solidFill>
                  <a:srgbClr val="A60000"/>
                </a:solidFill>
                <a:latin typeface="Arial"/>
              </a:rPr>
              <a:t>接收订单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286000" y="2148840"/>
            <a:ext cx="320040" cy="164592"/>
          </a:xfrm>
          <a:prstGeom prst="rightArrow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2651760" y="2011680"/>
            <a:ext cx="1463040" cy="50292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000" b="1" i="0">
                <a:solidFill>
                  <a:srgbClr val="2B2B2B"/>
                </a:solidFill>
                <a:latin typeface="Arial"/>
              </a:rPr>
              <a:t>验证订单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114800" y="2148840"/>
            <a:ext cx="320040" cy="164592"/>
          </a:xfrm>
          <a:prstGeom prst="rightArrow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480560" y="2011680"/>
            <a:ext cx="1463040" cy="50292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000" b="1" i="0">
                <a:solidFill>
                  <a:srgbClr val="2B2B2B"/>
                </a:solidFill>
                <a:latin typeface="Arial"/>
              </a:rPr>
              <a:t>处理支付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943600" y="2148840"/>
            <a:ext cx="320040" cy="164592"/>
          </a:xfrm>
          <a:prstGeom prst="rightArrow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309360" y="2011680"/>
            <a:ext cx="1463040" cy="50292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000" b="1" i="0">
                <a:solidFill>
                  <a:srgbClr val="2B2B2B"/>
                </a:solidFill>
                <a:latin typeface="Arial"/>
              </a:rPr>
              <a:t>库存检查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772400" y="2148840"/>
            <a:ext cx="320040" cy="164592"/>
          </a:xfrm>
          <a:prstGeom prst="rightArrow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138160" y="2011680"/>
            <a:ext cx="1463040" cy="50292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000" b="1" i="0">
                <a:solidFill>
                  <a:srgbClr val="2B2B2B"/>
                </a:solidFill>
                <a:latin typeface="Arial"/>
              </a:rPr>
              <a:t>发货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9601200" y="2148840"/>
            <a:ext cx="320040" cy="164592"/>
          </a:xfrm>
          <a:prstGeom prst="rightArrow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9966960" y="2011680"/>
            <a:ext cx="1463040" cy="50292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000" b="1" i="0">
                <a:solidFill>
                  <a:srgbClr val="2B2B2B"/>
                </a:solidFill>
                <a:latin typeface="Arial"/>
              </a:rPr>
              <a:t>通知客户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274320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51515"/>
                </a:solidFill>
                <a:latin typeface="Arial"/>
              </a:rPr>
              <a:t>CNCF Serverless Workflow 规范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2944368"/>
            <a:ext cx="10515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A6E73"/>
                </a:solidFill>
                <a:latin typeface="Arial"/>
              </a:rPr>
              <a:t>开放标准，非专有 ASL — 工作流定义可跨运行时移植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324612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51515"/>
                </a:solidFill>
                <a:latin typeface="Arial"/>
              </a:rPr>
              <a:t>Kubernetes 原生 (CRD)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3447288"/>
            <a:ext cx="10515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A6E73"/>
                </a:solidFill>
                <a:latin typeface="Arial"/>
              </a:rPr>
              <a:t>工作流定义即 K8s CR — 与 GitOps、CI/CD 完美集成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37490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51515"/>
                </a:solidFill>
                <a:latin typeface="Arial"/>
              </a:rPr>
              <a:t>jq 表达式引擎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3950208"/>
            <a:ext cx="10515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A6E73"/>
                </a:solidFill>
                <a:latin typeface="Arial"/>
              </a:rPr>
              <a:t>比 ASL 的 JSONPath 更强大的数据转换能力 (Turing-complete)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425196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51515"/>
                </a:solidFill>
                <a:latin typeface="Arial"/>
              </a:rPr>
              <a:t>内建 Dev 工具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4453128"/>
            <a:ext cx="10515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A6E73"/>
                </a:solidFill>
                <a:latin typeface="Arial"/>
              </a:rPr>
              <a:t>SwaggerUI + DevUI 开箱即用，无需额外配置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475488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51515"/>
                </a:solidFill>
                <a:latin typeface="Arial"/>
              </a:rPr>
              <a:t>多云一致部署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4956048"/>
            <a:ext cx="10515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A6E73"/>
                </a:solidFill>
                <a:latin typeface="Arial"/>
              </a:rPr>
              <a:t>同一 SonataFlow YAML 可部署到 ROSA、ARO、OCP</a:t>
            </a:r>
          </a:p>
        </p:txBody>
      </p:sp>
      <p:pic>
        <p:nvPicPr>
          <p:cNvPr id="32" name="Picture 31" descr="2026-05-12-20-08-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2743200"/>
            <a:ext cx="3017520" cy="2013029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BE6B9EA1-E795-226C-0819-6531727383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2512" y="3634571"/>
            <a:ext cx="3719034" cy="161204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89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51515"/>
                </a:solidFill>
                <a:latin typeface="Arial"/>
              </a:rPr>
              <a:t>SonataFlow vs AWS Step Functions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115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6A6E73"/>
                </a:solidFill>
                <a:latin typeface="Arial"/>
              </a:rPr>
              <a:t>同一订单处理工作流，实测数据对比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822960"/>
            <a:ext cx="1371600" cy="381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6492240"/>
            <a:ext cx="10911535" cy="12700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5430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A6E73"/>
                </a:solidFill>
                <a:latin typeface="Arial"/>
              </a:defRPr>
            </a:pPr>
            <a:r>
              <a:t>OpenShift Serverless — 统一多云 Serverless 平台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430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A6E73"/>
                </a:solidFill>
                <a:latin typeface="Arial"/>
              </a:defRPr>
            </a:pPr>
            <a:r>
              <a:t>13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417320"/>
          <a:ext cx="10911534" cy="4279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1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371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371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维度</a:t>
                      </a:r>
                    </a:p>
                  </a:txBody>
                  <a:tcPr marL="76200" marR="76200" marT="38100" marB="38100" anchor="ctr">
                    <a:solidFill>
                      <a:srgbClr val="5F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AWS Step Functions</a:t>
                      </a:r>
                    </a:p>
                  </a:txBody>
                  <a:tcPr marL="76200" marR="76200" marT="38100" marB="38100" anchor="ctr">
                    <a:solidFill>
                      <a:srgbClr val="5F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SonataFlow on ROSA</a:t>
                      </a:r>
                    </a:p>
                  </a:txBody>
                  <a:tcPr marL="76200" marR="76200" marT="38100" marB="38100" anchor="ctr">
                    <a:solidFill>
                      <a:srgbClr val="5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B2B2B"/>
                          </a:solidFill>
                          <a:latin typeface="Arial"/>
                        </a:rPr>
                        <a:t>工作流执行延迟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B2B2B"/>
                          </a:solidFill>
                          <a:latin typeface="Arial"/>
                        </a:rPr>
                        <a:t>~2ms (Express)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B2B2B"/>
                          </a:solidFill>
                          <a:latin typeface="Arial"/>
                        </a:rPr>
                        <a:t>~46ms (热请求)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B2B2B"/>
                          </a:solidFill>
                          <a:latin typeface="Arial"/>
                        </a:rPr>
                        <a:t>首次请求</a:t>
                      </a:r>
                    </a:p>
                  </a:txBody>
                  <a:tcPr marL="76200" marR="76200" marT="38100" marB="381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B2B2B"/>
                          </a:solidFill>
                          <a:latin typeface="Arial"/>
                        </a:rPr>
                        <a:t>~962ms (含 CLI 开销)</a:t>
                      </a:r>
                    </a:p>
                  </a:txBody>
                  <a:tcPr marL="76200" marR="76200" marT="38100" marB="381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B2B2B"/>
                          </a:solidFill>
                          <a:latin typeface="Arial"/>
                        </a:rPr>
                        <a:t>~220ms</a:t>
                      </a:r>
                    </a:p>
                  </a:txBody>
                  <a:tcPr marL="76200" marR="76200" marT="38100" marB="38100" anchor="ctr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B2B2B"/>
                          </a:solidFill>
                          <a:latin typeface="Arial"/>
                        </a:rPr>
                        <a:t>工作流规范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B2B2B"/>
                          </a:solidFill>
                          <a:latin typeface="Arial"/>
                        </a:rPr>
                        <a:t>ASL (AWS 专有)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B2B2B"/>
                          </a:solidFill>
                          <a:latin typeface="Arial"/>
                        </a:rPr>
                        <a:t>CNCF Serverless Workflow (开放标准)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B2B2B"/>
                          </a:solidFill>
                          <a:latin typeface="Arial"/>
                        </a:rPr>
                        <a:t>表达式能力</a:t>
                      </a:r>
                    </a:p>
                  </a:txBody>
                  <a:tcPr marL="76200" marR="76200" marT="38100" marB="381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B2B2B"/>
                          </a:solidFill>
                          <a:latin typeface="Arial"/>
                        </a:rPr>
                        <a:t>JSONPath + 有限 intrinsic</a:t>
                      </a:r>
                    </a:p>
                  </a:txBody>
                  <a:tcPr marL="76200" marR="76200" marT="38100" marB="381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B2B2B"/>
                          </a:solidFill>
                          <a:latin typeface="Arial"/>
                        </a:rPr>
                        <a:t>jq (完整功能, Turing-complete)</a:t>
                      </a:r>
                    </a:p>
                  </a:txBody>
                  <a:tcPr marL="76200" marR="76200" marT="38100" marB="38100" anchor="ctr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B2B2B"/>
                          </a:solidFill>
                          <a:latin typeface="Arial"/>
                        </a:rPr>
                        <a:t>部署方式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B2B2B"/>
                          </a:solidFill>
                          <a:latin typeface="Arial"/>
                        </a:rPr>
                        <a:t>aws sfn create-state-machine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B2B2B"/>
                          </a:solidFill>
                          <a:latin typeface="Arial"/>
                        </a:rPr>
                        <a:t>oc apply -f sonataflow.yaml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B2B2B"/>
                          </a:solidFill>
                          <a:latin typeface="Arial"/>
                        </a:rPr>
                        <a:t>多云可移植</a:t>
                      </a:r>
                    </a:p>
                  </a:txBody>
                  <a:tcPr marL="76200" marR="76200" marT="38100" marB="381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B2B2B"/>
                          </a:solidFill>
                          <a:latin typeface="Arial"/>
                        </a:rPr>
                        <a:t>仅 AWS</a:t>
                      </a:r>
                    </a:p>
                  </a:txBody>
                  <a:tcPr marL="76200" marR="76200" marT="38100" marB="381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B2B2B"/>
                          </a:solidFill>
                          <a:latin typeface="Arial"/>
                        </a:rPr>
                        <a:t>任何 OCP 集群</a:t>
                      </a:r>
                    </a:p>
                  </a:txBody>
                  <a:tcPr marL="76200" marR="76200" marT="38100" marB="38100" anchor="ctr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B2B2B"/>
                          </a:solidFill>
                          <a:latin typeface="Arial"/>
                        </a:rPr>
                        <a:t>K8s 原生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B2B2B"/>
                          </a:solidFill>
                          <a:latin typeface="Arial"/>
                        </a:rPr>
                        <a:t>否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B2B2B"/>
                          </a:solidFill>
                          <a:latin typeface="Arial"/>
                        </a:rPr>
                        <a:t>是 (CRD + Operator)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B2B2B"/>
                          </a:solidFill>
                          <a:latin typeface="Arial"/>
                        </a:rPr>
                        <a:t>人工审批</a:t>
                      </a:r>
                    </a:p>
                  </a:txBody>
                  <a:tcPr marL="76200" marR="76200" marT="38100" marB="381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B2B2B"/>
                          </a:solidFill>
                          <a:latin typeface="Arial"/>
                        </a:rPr>
                        <a:t>Activity Task + SQS</a:t>
                      </a:r>
                    </a:p>
                  </a:txBody>
                  <a:tcPr marL="76200" marR="76200" marT="38100" marB="381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B2B2B"/>
                          </a:solidFill>
                          <a:latin typeface="Arial"/>
                        </a:rPr>
                        <a:t>内建 Callback State</a:t>
                      </a:r>
                    </a:p>
                  </a:txBody>
                  <a:tcPr marL="76200" marR="76200" marT="38100" marB="38100" anchor="ctr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B2B2B"/>
                          </a:solidFill>
                          <a:latin typeface="Arial"/>
                        </a:rPr>
                        <a:t>成本模型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B2B2B"/>
                          </a:solidFill>
                          <a:latin typeface="Arial"/>
                        </a:rPr>
                        <a:t>按状态转换次数计费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B2B2B"/>
                          </a:solidFill>
                          <a:latin typeface="Arial"/>
                        </a:rPr>
                        <a:t>包含在 OCP 计算中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B2B2B"/>
                          </a:solidFill>
                          <a:latin typeface="Arial"/>
                        </a:rPr>
                        <a:t>可视化编辑</a:t>
                      </a:r>
                    </a:p>
                  </a:txBody>
                  <a:tcPr marL="76200" marR="76200" marT="38100" marB="381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B2B2B"/>
                          </a:solidFill>
                          <a:latin typeface="Arial"/>
                        </a:rPr>
                        <a:t>Workflow Studio (Console 内建)</a:t>
                      </a:r>
                    </a:p>
                  </a:txBody>
                  <a:tcPr marL="76200" marR="76200" marT="38100" marB="381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B2B2B"/>
                          </a:solidFill>
                          <a:latin typeface="Arial"/>
                        </a:rPr>
                        <a:t>VS Code 扩展 + Web Tools</a:t>
                      </a:r>
                    </a:p>
                  </a:txBody>
                  <a:tcPr marL="76200" marR="76200" marT="38100" marB="38100" anchor="ctr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B2B2B"/>
                          </a:solidFill>
                          <a:latin typeface="Arial"/>
                        </a:rPr>
                        <a:t>GitOps 友好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B2B2B"/>
                          </a:solidFill>
                          <a:latin typeface="Arial"/>
                        </a:rPr>
                        <a:t>Console 编辑不走 Git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B2B2B"/>
                          </a:solidFill>
                          <a:latin typeface="Arial"/>
                        </a:rPr>
                        <a:t>YAML CRD + Git 版本控制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B2B2B"/>
                          </a:solidFill>
                          <a:latin typeface="Arial"/>
                        </a:rPr>
                        <a:t>厂商锁定</a:t>
                      </a:r>
                    </a:p>
                  </a:txBody>
                  <a:tcPr marL="76200" marR="76200" marT="38100" marB="381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B2B2B"/>
                          </a:solidFill>
                          <a:latin typeface="Arial"/>
                        </a:rPr>
                        <a:t>高 (ASL 专有)</a:t>
                      </a:r>
                    </a:p>
                  </a:txBody>
                  <a:tcPr marL="76200" marR="76200" marT="38100" marB="381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B2B2B"/>
                          </a:solidFill>
                          <a:latin typeface="Arial"/>
                        </a:rPr>
                        <a:t>低 (CNCF 标准)</a:t>
                      </a:r>
                    </a:p>
                  </a:txBody>
                  <a:tcPr marL="76200" marR="76200" marT="38100" marB="38100" anchor="ctr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40080" y="5715000"/>
            <a:ext cx="10911535" cy="365760"/>
          </a:xfrm>
          <a:prstGeom prst="roundRect">
            <a:avLst>
              <a:gd name="adj" fmla="val 5000"/>
            </a:avLst>
          </a:prstGeom>
          <a:solidFill>
            <a:srgbClr val="FFF0F0"/>
          </a:solidFill>
          <a:ln w="12700">
            <a:solidFill>
              <a:srgbClr val="E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100" b="1" i="0">
                <a:solidFill>
                  <a:srgbClr val="A60000"/>
                </a:solidFill>
                <a:latin typeface="Arial"/>
              </a:rPr>
              <a:t>设计理念：AWS 侧重 Console-first（界面优先）  |  SonataFlow 侧重 Code-first（代码优先 + GitOps）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89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51515"/>
                </a:solidFill>
                <a:latin typeface="Arial"/>
              </a:rPr>
              <a:t>统一 CI/CD：Tekton + ArgoCD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115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6A6E73"/>
                </a:solidFill>
                <a:latin typeface="Arial"/>
              </a:rPr>
              <a:t>一条管道适配所有 OCP 集群 — Git Push → Build → Deploy 全自动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822960"/>
            <a:ext cx="1371600" cy="381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6492240"/>
            <a:ext cx="10911535" cy="12700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5430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A6E73"/>
                </a:solidFill>
                <a:latin typeface="Arial"/>
              </a:defRPr>
            </a:pPr>
            <a:r>
              <a:t>OpenShift Serverless — 统一多云 Serverless 平台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430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A6E73"/>
                </a:solidFill>
                <a:latin typeface="Arial"/>
              </a:defRPr>
            </a:pPr>
            <a:r>
              <a:t>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645920"/>
            <a:ext cx="1371600" cy="64008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100" b="1" i="0">
                <a:solidFill>
                  <a:srgbClr val="2B2B2B"/>
                </a:solidFill>
                <a:latin typeface="Arial"/>
              </a:rPr>
              <a:t>Git Push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240280" y="1828800"/>
            <a:ext cx="365760" cy="182880"/>
          </a:xfrm>
          <a:prstGeom prst="rightArrow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2651760" y="1645920"/>
            <a:ext cx="1828800" cy="64008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Git Repo
(GitHub/GitLab)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526280" y="1828800"/>
            <a:ext cx="365760" cy="182880"/>
          </a:xfrm>
          <a:prstGeom prst="rightArrow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937760" y="1645920"/>
            <a:ext cx="1828800" cy="640080"/>
          </a:xfrm>
          <a:prstGeom prst="roundRect">
            <a:avLst>
              <a:gd name="adj" fmla="val 5000"/>
            </a:avLst>
          </a:prstGeom>
          <a:solidFill>
            <a:srgbClr val="FFF0F0"/>
          </a:solidFill>
          <a:ln w="12700">
            <a:solidFill>
              <a:srgbClr val="E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Tekton
EventListener
(webhook)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63160" y="1671320"/>
            <a:ext cx="1778000" cy="508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Down Arrow 14"/>
          <p:cNvSpPr/>
          <p:nvPr/>
        </p:nvSpPr>
        <p:spPr>
          <a:xfrm>
            <a:off x="5715000" y="2286000"/>
            <a:ext cx="182880" cy="411480"/>
          </a:xfrm>
          <a:prstGeom prst="downArrow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2011680" y="2743200"/>
            <a:ext cx="2011680" cy="640080"/>
          </a:xfrm>
          <a:prstGeom prst="roundRect">
            <a:avLst>
              <a:gd name="adj" fmla="val 5000"/>
            </a:avLst>
          </a:prstGeom>
          <a:solidFill>
            <a:srgbClr val="FFF0F0"/>
          </a:solidFill>
          <a:ln w="12700">
            <a:solidFill>
              <a:srgbClr val="E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Clone
Source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037080" y="2768600"/>
            <a:ext cx="1960880" cy="508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297680" y="2743200"/>
            <a:ext cx="2011680" cy="640080"/>
          </a:xfrm>
          <a:prstGeom prst="roundRect">
            <a:avLst>
              <a:gd name="adj" fmla="val 5000"/>
            </a:avLst>
          </a:prstGeom>
          <a:solidFill>
            <a:srgbClr val="FFF0F0"/>
          </a:solidFill>
          <a:ln w="12700">
            <a:solidFill>
              <a:srgbClr val="E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Build &amp;
Push Image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23080" y="2768600"/>
            <a:ext cx="1960880" cy="508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583680" y="2743200"/>
            <a:ext cx="2011680" cy="640080"/>
          </a:xfrm>
          <a:prstGeom prst="roundRect">
            <a:avLst>
              <a:gd name="adj" fmla="val 5000"/>
            </a:avLst>
          </a:prstGeom>
          <a:solidFill>
            <a:srgbClr val="FFF0F0"/>
          </a:solidFill>
          <a:ln w="12700">
            <a:solidFill>
              <a:srgbClr val="E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Deploy via
GitOps (ArgoCD)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9080" y="2768600"/>
            <a:ext cx="1960880" cy="508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ight Arrow 21"/>
          <p:cNvSpPr/>
          <p:nvPr/>
        </p:nvSpPr>
        <p:spPr>
          <a:xfrm>
            <a:off x="4069080" y="2926080"/>
            <a:ext cx="182880" cy="182880"/>
          </a:xfrm>
          <a:prstGeom prst="rightArrow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ight Arrow 22"/>
          <p:cNvSpPr/>
          <p:nvPr/>
        </p:nvSpPr>
        <p:spPr>
          <a:xfrm>
            <a:off x="6355080" y="2926080"/>
            <a:ext cx="182880" cy="182880"/>
          </a:xfrm>
          <a:prstGeom prst="rightArrow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Down Arrow 23"/>
          <p:cNvSpPr/>
          <p:nvPr/>
        </p:nvSpPr>
        <p:spPr>
          <a:xfrm>
            <a:off x="7452360" y="3383280"/>
            <a:ext cx="182880" cy="411480"/>
          </a:xfrm>
          <a:prstGeom prst="downArrow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4754880" y="3840480"/>
            <a:ext cx="2011680" cy="64008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ROSA (AWS)
Knative Svc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040880" y="3840480"/>
            <a:ext cx="2011680" cy="64008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ARO (Azure)
Knative Svc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326880" y="3840480"/>
            <a:ext cx="2011680" cy="64008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OCP (Ali/GCP)
Knative Svc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0" y="164592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51515"/>
                </a:solidFill>
                <a:latin typeface="Arial"/>
              </a:rPr>
              <a:t>GitOps 仓库结构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1920240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B2B2B"/>
                </a:solidFill>
                <a:latin typeface="Arial"/>
              </a:rPr>
              <a:t>base/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0" y="2121408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A6E73"/>
                </a:solidFill>
                <a:latin typeface="Arial"/>
              </a:rPr>
              <a:t>  knative-service-template.yaml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0" y="2322576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B2B2B"/>
                </a:solidFill>
                <a:latin typeface="Arial"/>
              </a:rPr>
              <a:t>overlays/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252374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A6E73"/>
                </a:solidFill>
                <a:latin typeface="Arial"/>
              </a:rPr>
              <a:t>  rosa-prod/ (scale, registry)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0" y="2724912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A6E73"/>
                </a:solidFill>
                <a:latin typeface="Arial"/>
              </a:rPr>
              <a:t>  aro-prod/ (registry override)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0" y="2926080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A6E73"/>
                </a:solidFill>
                <a:latin typeface="Arial"/>
              </a:rPr>
              <a:t>  ocp-ali/ (registry override)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3127248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B2B2B"/>
                </a:solidFill>
                <a:latin typeface="Arial"/>
              </a:rPr>
              <a:t>argocd/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0" y="3328416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A6E73"/>
                </a:solidFill>
                <a:latin typeface="Arial"/>
              </a:rPr>
              <a:t>  rosa-prod-app.yaml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0" y="352958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A6E73"/>
                </a:solidFill>
                <a:latin typeface="Arial"/>
              </a:rPr>
              <a:t>  aro-prod-app.yaml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" y="5623560"/>
            <a:ext cx="10911535" cy="36576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15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100" b="1" i="0">
                <a:solidFill>
                  <a:srgbClr val="151515"/>
                </a:solidFill>
                <a:latin typeface="Arial"/>
              </a:rPr>
              <a:t>唯一差异：Registry URL + DNS + 负载均衡类型 — 通过 Kustomize Overlays 处理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89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51515"/>
                </a:solidFill>
                <a:latin typeface="Arial"/>
              </a:rPr>
              <a:t>多云可移植性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115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6A6E73"/>
                </a:solidFill>
                <a:latin typeface="Arial"/>
              </a:rPr>
              <a:t>同一容器镜像 + 同一 Knative YAML → 任何 OCP 集群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822960"/>
            <a:ext cx="1371600" cy="381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6492240"/>
            <a:ext cx="10911535" cy="12700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5430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A6E73"/>
                </a:solidFill>
                <a:latin typeface="Arial"/>
              </a:defRPr>
            </a:pPr>
            <a:r>
              <a:t>OpenShift Serverless — 统一多云 Serverless 平台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430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A6E73"/>
                </a:solidFill>
                <a:latin typeface="Arial"/>
              </a:defRPr>
            </a:pPr>
            <a:r>
              <a:t>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0" y="1737360"/>
            <a:ext cx="3931920" cy="914400"/>
          </a:xfrm>
          <a:prstGeom prst="roundRect">
            <a:avLst>
              <a:gd name="adj" fmla="val 5000"/>
            </a:avLst>
          </a:prstGeom>
          <a:solidFill>
            <a:srgbClr val="FFF0F0"/>
          </a:solidFill>
          <a:ln w="12700">
            <a:solidFill>
              <a:srgbClr val="E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400" b="1" i="0">
                <a:solidFill>
                  <a:srgbClr val="151515"/>
                </a:solidFill>
                <a:latin typeface="Arial"/>
              </a:rPr>
              <a:t>容器镜像 (OCI)
+
Knative Service YAML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40200" y="1762760"/>
            <a:ext cx="3881120" cy="508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Down Arrow 10"/>
          <p:cNvSpPr/>
          <p:nvPr/>
        </p:nvSpPr>
        <p:spPr>
          <a:xfrm>
            <a:off x="2743200" y="2697480"/>
            <a:ext cx="182880" cy="365760"/>
          </a:xfrm>
          <a:prstGeom prst="downArrow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Down Arrow 11"/>
          <p:cNvSpPr/>
          <p:nvPr/>
        </p:nvSpPr>
        <p:spPr>
          <a:xfrm>
            <a:off x="5577840" y="2697480"/>
            <a:ext cx="182880" cy="365760"/>
          </a:xfrm>
          <a:prstGeom prst="downArrow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Down Arrow 12"/>
          <p:cNvSpPr/>
          <p:nvPr/>
        </p:nvSpPr>
        <p:spPr>
          <a:xfrm>
            <a:off x="8412480" y="2697480"/>
            <a:ext cx="182880" cy="365760"/>
          </a:xfrm>
          <a:prstGeom prst="downArrow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371600" y="3154680"/>
            <a:ext cx="2743200" cy="41148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15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400" b="1" i="0">
                <a:solidFill>
                  <a:srgbClr val="151515"/>
                </a:solidFill>
                <a:latin typeface="Arial"/>
              </a:rPr>
              <a:t>ROSA (AWS)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65760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Arial"/>
              </a:rPr>
              <a:t>Registry: Quay.io/ECR
Ingress: Kourier + NLB
Spot 实例支持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3154680"/>
            <a:ext cx="2743200" cy="41148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15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400" b="1" i="0">
                <a:solidFill>
                  <a:srgbClr val="151515"/>
                </a:solidFill>
                <a:latin typeface="Arial"/>
              </a:rPr>
              <a:t>ARO (Azure)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365760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Arial"/>
              </a:rPr>
              <a:t>Registry: ACR/Quay.io
Ingress: Kourier + ALB
按需/预留实例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23760" y="3154680"/>
            <a:ext cx="2743200" cy="41148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15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400" b="1" i="0">
                <a:solidFill>
                  <a:srgbClr val="151515"/>
                </a:solidFill>
                <a:latin typeface="Arial"/>
              </a:rPr>
              <a:t>OCP (Ali/GCP)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365760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Arial"/>
              </a:rPr>
              <a:t>Registry: Harbor/Quay
Ingress: Kourier + LB
自管理灵活配置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9151" y="420624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51515"/>
                </a:solidFill>
                <a:latin typeface="Arial"/>
              </a:rPr>
              <a:t>Lambda → Knative 概念映射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744592"/>
              </p:ext>
            </p:extLst>
          </p:nvPr>
        </p:nvGraphicFramePr>
        <p:xfrm>
          <a:off x="2909151" y="4480560"/>
          <a:ext cx="6400800" cy="2048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AWS Lambda 概念</a:t>
                      </a:r>
                    </a:p>
                  </a:txBody>
                  <a:tcPr marL="76200" marR="76200" marT="38100" marB="38100" anchor="ctr">
                    <a:solidFill>
                      <a:srgbClr val="5F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Knative / OpenShift 等价物</a:t>
                      </a:r>
                    </a:p>
                  </a:txBody>
                  <a:tcPr marL="76200" marR="76200" marT="38100" marB="38100" anchor="ctr">
                    <a:solidFill>
                      <a:srgbClr val="5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2B2B2B"/>
                          </a:solidFill>
                          <a:latin typeface="Arial"/>
                        </a:rPr>
                        <a:t>Lambda Function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2B2B2B"/>
                          </a:solidFill>
                          <a:latin typeface="Arial"/>
                        </a:rPr>
                        <a:t>Knative Service (ksvc)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2B2B2B"/>
                          </a:solidFill>
                          <a:latin typeface="Arial"/>
                        </a:rPr>
                        <a:t>API Gateway trigger</a:t>
                      </a:r>
                    </a:p>
                  </a:txBody>
                  <a:tcPr marL="76200" marR="76200" marT="38100" marB="381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2B2B2B"/>
                          </a:solidFill>
                          <a:latin typeface="Arial"/>
                        </a:rPr>
                        <a:t>Knative Route (自动创建)</a:t>
                      </a:r>
                    </a:p>
                  </a:txBody>
                  <a:tcPr marL="76200" marR="76200" marT="38100" marB="38100" anchor="ctr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2B2B2B"/>
                          </a:solidFill>
                          <a:latin typeface="Arial"/>
                        </a:rPr>
                        <a:t>SQS trigger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2B2B2B"/>
                          </a:solidFill>
                          <a:latin typeface="Arial"/>
                        </a:rPr>
                        <a:t>KafkaSource + AMQ Streams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2B2B2B"/>
                          </a:solidFill>
                          <a:latin typeface="Arial"/>
                        </a:rPr>
                        <a:t>EventBridge Schedule</a:t>
                      </a:r>
                    </a:p>
                  </a:txBody>
                  <a:tcPr marL="76200" marR="76200" marT="38100" marB="381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2B2B2B"/>
                          </a:solidFill>
                          <a:latin typeface="Arial"/>
                        </a:rPr>
                        <a:t>PingSource</a:t>
                      </a:r>
                    </a:p>
                  </a:txBody>
                  <a:tcPr marL="76200" marR="76200" marT="38100" marB="38100" anchor="ctr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2B2B2B"/>
                          </a:solidFill>
                          <a:latin typeface="Arial"/>
                        </a:rPr>
                        <a:t>Env variables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2B2B2B"/>
                          </a:solidFill>
                          <a:latin typeface="Arial"/>
                        </a:rPr>
                        <a:t>ConfigMap / Secret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2B2B2B"/>
                          </a:solidFill>
                          <a:latin typeface="Arial"/>
                        </a:rPr>
                        <a:t>Versioning/Alias</a:t>
                      </a:r>
                    </a:p>
                  </a:txBody>
                  <a:tcPr marL="76200" marR="76200" marT="38100" marB="381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2B2B2B"/>
                          </a:solidFill>
                          <a:latin typeface="Arial"/>
                        </a:rPr>
                        <a:t>Knative Revisions + Traffic Splitting</a:t>
                      </a:r>
                    </a:p>
                  </a:txBody>
                  <a:tcPr marL="76200" marR="76200" marT="38100" marB="38100" anchor="ctr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0" i="0" dirty="0">
                          <a:solidFill>
                            <a:srgbClr val="2B2B2B"/>
                          </a:solidFill>
                          <a:latin typeface="Arial"/>
                        </a:rPr>
                        <a:t>SAM template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dirty="0" err="1">
                          <a:solidFill>
                            <a:srgbClr val="2B2B2B"/>
                          </a:solidFill>
                          <a:latin typeface="Arial"/>
                        </a:rPr>
                        <a:t>Knative</a:t>
                      </a:r>
                      <a:r>
                        <a:rPr sz="900" b="0" i="0" dirty="0">
                          <a:solidFill>
                            <a:srgbClr val="2B2B2B"/>
                          </a:solidFill>
                          <a:latin typeface="Arial"/>
                        </a:rPr>
                        <a:t> YAML + </a:t>
                      </a:r>
                      <a:r>
                        <a:rPr sz="900" b="0" i="0" dirty="0" err="1">
                          <a:solidFill>
                            <a:srgbClr val="2B2B2B"/>
                          </a:solidFill>
                          <a:latin typeface="Arial"/>
                        </a:rPr>
                        <a:t>Tekton</a:t>
                      </a:r>
                      <a:r>
                        <a:rPr sz="900" b="0" i="0" dirty="0">
                          <a:solidFill>
                            <a:srgbClr val="2B2B2B"/>
                          </a:solidFill>
                          <a:latin typeface="Arial"/>
                        </a:rPr>
                        <a:t> Pipeline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89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1153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 i="0">
                <a:solidFill>
                  <a:srgbClr val="EE0000"/>
                </a:solidFill>
                <a:latin typeface="Arial"/>
              </a:rPr>
              <a:t>路线图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51515"/>
                </a:solidFill>
                <a:latin typeface="Arial"/>
              </a:rPr>
              <a:t>实施路线图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9115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6A6E73"/>
                </a:solidFill>
                <a:latin typeface="Arial"/>
              </a:rPr>
              <a:t>8 周分阶段落地计划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914400"/>
            <a:ext cx="1371600" cy="381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6492240"/>
            <a:ext cx="10911535" cy="12700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65430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A6E73"/>
                </a:solidFill>
                <a:latin typeface="Arial"/>
              </a:defRPr>
            </a:pPr>
            <a:r>
              <a:t>OpenShift Serverless — 统一多云 Serverless 平台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430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A6E73"/>
                </a:solidFill>
                <a:latin typeface="Arial"/>
              </a:defRPr>
            </a:pPr>
            <a:r>
              <a:t>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1463040"/>
            <a:ext cx="81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A6E73"/>
                </a:solidFill>
                <a:latin typeface="Arial"/>
              </a:rPr>
              <a:t>W1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27600" y="1463040"/>
            <a:ext cx="81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A6E73"/>
                </a:solidFill>
                <a:latin typeface="Arial"/>
              </a:rPr>
              <a:t>W2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40400" y="1463040"/>
            <a:ext cx="81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A6E73"/>
                </a:solidFill>
                <a:latin typeface="Arial"/>
              </a:rPr>
              <a:t>W3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3200" y="1463040"/>
            <a:ext cx="81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A6E73"/>
                </a:solidFill>
                <a:latin typeface="Arial"/>
              </a:rPr>
              <a:t>W4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6000" y="1463040"/>
            <a:ext cx="81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A6E73"/>
                </a:solidFill>
                <a:latin typeface="Arial"/>
              </a:rPr>
              <a:t>W5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8800" y="1463040"/>
            <a:ext cx="81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A6E73"/>
                </a:solidFill>
                <a:latin typeface="Arial"/>
              </a:rPr>
              <a:t>W6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1600" y="1463040"/>
            <a:ext cx="81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A6E73"/>
                </a:solidFill>
                <a:latin typeface="Arial"/>
              </a:rPr>
              <a:t>W7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04400" y="1463040"/>
            <a:ext cx="81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A6E73"/>
                </a:solidFill>
                <a:latin typeface="Arial"/>
              </a:rPr>
              <a:t>W8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17200" y="1463040"/>
            <a:ext cx="81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A6E73"/>
                </a:solidFill>
                <a:latin typeface="Arial"/>
              </a:rPr>
              <a:t>W9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173736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51515"/>
                </a:solidFill>
                <a:latin typeface="Arial"/>
              </a:rPr>
              <a:t>Phase 1: 安装 Serverless Operator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1938528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A6E73"/>
                </a:solidFill>
                <a:latin typeface="Arial"/>
              </a:rPr>
              <a:t>第 1-2 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0" y="1755648"/>
            <a:ext cx="1625600" cy="320040"/>
          </a:xfrm>
          <a:prstGeom prst="roundRect">
            <a:avLst>
              <a:gd name="adj" fmla="val 30000"/>
            </a:avLst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安装 Serverless Operator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233172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51515"/>
                </a:solidFill>
                <a:latin typeface="Arial"/>
              </a:rPr>
              <a:t>Phase 2: 专用机器池配置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2532888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A6E73"/>
                </a:solidFill>
                <a:latin typeface="Arial"/>
              </a:rPr>
              <a:t>第 2-3 周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927600" y="2350008"/>
            <a:ext cx="1625600" cy="320040"/>
          </a:xfrm>
          <a:prstGeom prst="roundRect">
            <a:avLst>
              <a:gd name="adj" fmla="val 30000"/>
            </a:avLst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专用机器池配置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292608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51515"/>
                </a:solidFill>
                <a:latin typeface="Arial"/>
              </a:rPr>
              <a:t>Phase 3: Lambda 迁移 (试点)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3127248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A6E73"/>
                </a:solidFill>
                <a:latin typeface="Arial"/>
              </a:rPr>
              <a:t>第 3-5 周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740400" y="2944368"/>
            <a:ext cx="2438400" cy="320040"/>
          </a:xfrm>
          <a:prstGeom prst="roundRect">
            <a:avLst>
              <a:gd name="adj" fmla="val 30000"/>
            </a:avLst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Lambda 迁移 (试点)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35204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51515"/>
                </a:solidFill>
                <a:latin typeface="Arial"/>
              </a:rPr>
              <a:t>Phase 4: 统一 CI/CD 管道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3721608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A6E73"/>
                </a:solidFill>
                <a:latin typeface="Arial"/>
              </a:rPr>
              <a:t>第 4-6 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53200" y="3538728"/>
            <a:ext cx="2438400" cy="320040"/>
          </a:xfrm>
          <a:prstGeom prst="roundRect">
            <a:avLst>
              <a:gd name="adj" fmla="val 30000"/>
            </a:avLst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统一 CI/CD 管道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11480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51515"/>
                </a:solidFill>
                <a:latin typeface="Arial"/>
              </a:rPr>
              <a:t>Phase 5: 事件源集成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4315968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A6E73"/>
                </a:solidFill>
                <a:latin typeface="Arial"/>
              </a:rPr>
              <a:t>第 5-7 周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66000" y="4133088"/>
            <a:ext cx="2438400" cy="320040"/>
          </a:xfrm>
          <a:prstGeom prst="roundRect">
            <a:avLst>
              <a:gd name="adj" fmla="val 30000"/>
            </a:avLst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事件源集成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470916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51515"/>
                </a:solidFill>
                <a:latin typeface="Arial"/>
              </a:rPr>
              <a:t>Phase 6: 成本优化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4910328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A6E73"/>
                </a:solidFill>
                <a:latin typeface="Arial"/>
              </a:rPr>
              <a:t>第 6-7 周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78800" y="4727448"/>
            <a:ext cx="1625600" cy="320040"/>
          </a:xfrm>
          <a:prstGeom prst="roundRect">
            <a:avLst>
              <a:gd name="adj" fmla="val 30000"/>
            </a:avLst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成本优化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530352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51515"/>
                </a:solidFill>
                <a:latin typeface="Arial"/>
              </a:rPr>
              <a:t>Phase 7: 多云验证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5504688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A6E73"/>
                </a:solidFill>
                <a:latin typeface="Arial"/>
              </a:rPr>
              <a:t>第 7-8 周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991600" y="5321808"/>
            <a:ext cx="1625600" cy="320040"/>
          </a:xfrm>
          <a:prstGeom prst="roundRect">
            <a:avLst>
              <a:gd name="adj" fmla="val 30000"/>
            </a:avLst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多云验证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589788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51515"/>
                </a:solidFill>
                <a:latin typeface="Arial"/>
              </a:rPr>
              <a:t>Phase 8: 工作流编排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6099048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A6E73"/>
                </a:solidFill>
                <a:latin typeface="Arial"/>
              </a:rPr>
              <a:t>第 7-9 周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991600" y="5916168"/>
            <a:ext cx="2438400" cy="320040"/>
          </a:xfrm>
          <a:prstGeom prst="roundRect">
            <a:avLst>
              <a:gd name="adj" fmla="val 30000"/>
            </a:avLst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工作流编排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743200" y="5618141"/>
            <a:ext cx="2743200" cy="365760"/>
          </a:xfrm>
          <a:prstGeom prst="roundRect">
            <a:avLst>
              <a:gd name="adj" fmla="val 5000"/>
            </a:avLst>
          </a:prstGeom>
          <a:solidFill>
            <a:srgbClr val="FFF0F0"/>
          </a:solidFill>
          <a:ln w="12700">
            <a:solidFill>
              <a:srgbClr val="E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400" b="1" i="0">
                <a:solidFill>
                  <a:srgbClr val="A60000"/>
                </a:solidFill>
                <a:latin typeface="Arial"/>
              </a:rPr>
              <a:t>预计总工期：6-8 周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89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51515"/>
                </a:solidFill>
                <a:latin typeface="Arial"/>
              </a:rPr>
              <a:t>成功标准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115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6A6E73"/>
                </a:solidFill>
                <a:latin typeface="Arial"/>
              </a:rPr>
              <a:t>可衡量的验收指标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822960"/>
            <a:ext cx="1371600" cy="381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6492240"/>
            <a:ext cx="10911535" cy="12700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5430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A6E73"/>
                </a:solidFill>
                <a:latin typeface="Arial"/>
              </a:defRPr>
            </a:pPr>
            <a:r>
              <a:t>OpenShift Serverless — 统一多云 Serverless 平台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430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A6E73"/>
                </a:solidFill>
                <a:latin typeface="Arial"/>
              </a:defRPr>
            </a:pPr>
            <a:r>
              <a:t>17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417320"/>
          <a:ext cx="10911534" cy="370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1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371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371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标准</a:t>
                      </a:r>
                    </a:p>
                  </a:txBody>
                  <a:tcPr marL="76200" marR="76200" marT="38100" marB="38100" anchor="ctr">
                    <a:solidFill>
                      <a:srgbClr val="5F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衡量方式</a:t>
                      </a:r>
                    </a:p>
                  </a:txBody>
                  <a:tcPr marL="76200" marR="76200" marT="38100" marB="38100" anchor="ctr">
                    <a:solidFill>
                      <a:srgbClr val="5F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实测状态</a:t>
                      </a:r>
                    </a:p>
                  </a:txBody>
                  <a:tcPr marL="76200" marR="76200" marT="38100" marB="38100" anchor="ctr">
                    <a:solidFill>
                      <a:srgbClr val="5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</a:rPr>
                        <a:t>统一 CI/CD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</a:rPr>
                        <a:t>一条 Tekton Pipeline 可部署到所有目标云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</a:rPr>
                        <a:t>方案就绪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</a:rPr>
                        <a:t>Scale-to-Zero</a:t>
                      </a:r>
                    </a:p>
                  </a:txBody>
                  <a:tcPr marL="76200" marR="76200" marT="38100" marB="381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</a:rPr>
                        <a:t>Pod 数降至 0，节点被移除</a:t>
                      </a:r>
                    </a:p>
                  </a:txBody>
                  <a:tcPr marL="76200" marR="76200" marT="38100" marB="381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</a:rPr>
                        <a:t>已验证 ✓</a:t>
                      </a:r>
                    </a:p>
                  </a:txBody>
                  <a:tcPr marL="76200" marR="76200" marT="38100" marB="38100" anchor="ctr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</a:rPr>
                        <a:t>成本降低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</a:rPr>
                        <a:t>相比等价 Lambda 成本降低 ≥30%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</a:rPr>
                        <a:t>模型验证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</a:rPr>
                        <a:t>冷启动 &lt; 10s</a:t>
                      </a:r>
                    </a:p>
                  </a:txBody>
                  <a:tcPr marL="76200" marR="76200" marT="38100" marB="381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</a:rPr>
                        <a:t>P95 冷启动延迟在 10 秒以内</a:t>
                      </a:r>
                    </a:p>
                  </a:txBody>
                  <a:tcPr marL="76200" marR="76200" marT="38100" marB="381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</a:rPr>
                        <a:t>实测 1.67s ✓</a:t>
                      </a:r>
                    </a:p>
                  </a:txBody>
                  <a:tcPr marL="76200" marR="76200" marT="38100" marB="38100" anchor="ctr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</a:rPr>
                        <a:t>多云可移植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</a:rPr>
                        <a:t>同一函数镜像 + YAML 可部署到 ROSA 和 ARO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</a:rPr>
                        <a:t>架构就绪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</a:rPr>
                        <a:t>迁移覆盖</a:t>
                      </a:r>
                    </a:p>
                  </a:txBody>
                  <a:tcPr marL="76200" marR="76200" marT="38100" marB="381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</a:rPr>
                        <a:t>≥3 个 Lambda 函数完成概念验证迁移</a:t>
                      </a:r>
                    </a:p>
                  </a:txBody>
                  <a:tcPr marL="76200" marR="76200" marT="38100" marB="381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</a:rPr>
                        <a:t>待执行</a:t>
                      </a:r>
                    </a:p>
                  </a:txBody>
                  <a:tcPr marL="76200" marR="76200" marT="38100" marB="38100" anchor="ctr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</a:rPr>
                        <a:t>运维就绪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</a:rPr>
                        <a:t>监控仪表板、告警规则、运维手册交付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</a:rPr>
                        <a:t>文档就绪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</a:rPr>
                        <a:t>工作流编排</a:t>
                      </a:r>
                    </a:p>
                  </a:txBody>
                  <a:tcPr marL="76200" marR="76200" marT="38100" marB="381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</a:rPr>
                        <a:t>SonataFlow 替代 Step Functions POC</a:t>
                      </a:r>
                    </a:p>
                  </a:txBody>
                  <a:tcPr marL="76200" marR="76200" marT="38100" marB="381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</a:rPr>
                        <a:t>已验证 ✓</a:t>
                      </a:r>
                    </a:p>
                  </a:txBody>
                  <a:tcPr marL="76200" marR="76200" marT="38100" marB="38100" anchor="ctr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89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51515"/>
                </a:solidFill>
                <a:latin typeface="Arial"/>
              </a:rPr>
              <a:t>核心结论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22960"/>
            <a:ext cx="1371600" cy="381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6492240"/>
            <a:ext cx="10911535" cy="12700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5430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A6E73"/>
                </a:solidFill>
                <a:latin typeface="Arial"/>
              </a:defRPr>
            </a:pPr>
            <a:r>
              <a:t>OpenShift Serverless — 统一多云 Serverless 平台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430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A6E73"/>
                </a:solidFill>
                <a:latin typeface="Arial"/>
              </a:defRPr>
            </a:pPr>
            <a:r>
              <a:t>18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1417320"/>
            <a:ext cx="365760" cy="365760"/>
          </a:xfrm>
          <a:prstGeom prst="ellipse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3919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51515"/>
                </a:solidFill>
                <a:latin typeface="Arial"/>
              </a:rPr>
              <a:t>热请求延迟 Knative 比 Lambda 快 40%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673352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A6E73"/>
                </a:solidFill>
                <a:latin typeface="Arial"/>
              </a:rPr>
              <a:t>实测：Knative ~28-30ms vs Lambda ~44-55ms — 集群内网络零额外开销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2286000"/>
            <a:ext cx="365760" cy="365760"/>
          </a:xfrm>
          <a:prstGeom prst="ellipse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2606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51515"/>
                </a:solidFill>
                <a:latin typeface="Arial"/>
              </a:rPr>
              <a:t>部署复杂度从 11 步降至 1 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542032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A6E73"/>
                </a:solidFill>
                <a:latin typeface="Arial"/>
              </a:rPr>
              <a:t>无需 IAM、API Gateway、权限配置 — 一个 YAML 声明式部署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3154680"/>
            <a:ext cx="365760" cy="365760"/>
          </a:xfrm>
          <a:prstGeom prst="ellipse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1292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51515"/>
                </a:solidFill>
                <a:latin typeface="Arial"/>
              </a:rPr>
              <a:t>CI/CD 管道从 N 条减至 1 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3410712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A6E73"/>
                </a:solidFill>
                <a:latin typeface="Arial"/>
              </a:rPr>
              <a:t>Tekton + ArgoCD + Kustomize Overlays → 一套管道适配所有云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4023360"/>
            <a:ext cx="365760" cy="365760"/>
          </a:xfrm>
          <a:prstGeom prst="ellipse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9979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51515"/>
                </a:solidFill>
                <a:latin typeface="Arial"/>
              </a:rPr>
              <a:t>Scale-to-Zero 实现真正的按需计费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4279392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A6E73"/>
                </a:solidFill>
                <a:latin typeface="Arial"/>
              </a:rPr>
              <a:t>无流量 → Pod 缩零 → 节点移除 → 计算成本 $0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" y="4892040"/>
            <a:ext cx="365760" cy="365760"/>
          </a:xfrm>
          <a:prstGeom prst="ellipse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48666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51515"/>
                </a:solidFill>
                <a:latin typeface="Arial"/>
              </a:rPr>
              <a:t>基于开放标准，消除厂商锁定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5148072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A6E73"/>
                </a:solidFill>
                <a:latin typeface="Arial"/>
              </a:rPr>
              <a:t>Knative (CNCF) + CNCF Serverless Workflow + OCI 容器标准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5760720"/>
            <a:ext cx="10911535" cy="411480"/>
          </a:xfrm>
          <a:prstGeom prst="roundRect">
            <a:avLst>
              <a:gd name="adj" fmla="val 5000"/>
            </a:avLst>
          </a:prstGeom>
          <a:solidFill>
            <a:srgbClr val="FFF0F0"/>
          </a:solidFill>
          <a:ln w="12700">
            <a:solidFill>
              <a:srgbClr val="E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200" b="1" i="0">
                <a:solidFill>
                  <a:srgbClr val="A60000"/>
                </a:solidFill>
                <a:latin typeface="Arial"/>
              </a:rPr>
              <a:t>下一步：启动 Phase 1 — 在现有 ROSA 集群上安装 OpenShift Serverless，2 周内完成首个试点函数迁移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286000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151515"/>
                </a:solidFill>
                <a:latin typeface="Arial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01752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6A6E73"/>
                </a:solidFill>
                <a:latin typeface="Arial"/>
              </a:rPr>
              <a:t>Q &amp; A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0" y="3657600"/>
            <a:ext cx="1554480" cy="508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4114800"/>
            <a:ext cx="109115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A6E73"/>
                </a:solidFill>
                <a:latin typeface="Arial"/>
              </a:rPr>
              <a:t>Red Hat Adoption Team  |  2026-05-13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754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A8D90"/>
                </a:solidFill>
                <a:latin typeface="Arial"/>
              </a:rPr>
              <a:t>实测环境: ROSA HCP 4.20.21 (us-east-2)
文档: solution.md + steps.md (含完整命令和输出)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2021</Words>
  <Application>Microsoft Macintosh PowerPoint</Application>
  <PresentationFormat>Widescreen</PresentationFormat>
  <Paragraphs>502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zheng wang</cp:lastModifiedBy>
  <cp:revision>6</cp:revision>
  <dcterms:created xsi:type="dcterms:W3CDTF">2013-01-27T09:14:16Z</dcterms:created>
  <dcterms:modified xsi:type="dcterms:W3CDTF">2026-05-13T03:01:24Z</dcterms:modified>
  <cp:category/>
</cp:coreProperties>
</file>